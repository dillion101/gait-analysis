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66" r:id="rId3"/>
    <p:sldId id="257" r:id="rId4"/>
    <p:sldId id="258" r:id="rId5"/>
    <p:sldId id="259" r:id="rId6"/>
    <p:sldId id="260" r:id="rId7"/>
    <p:sldId id="261" r:id="rId8"/>
    <p:sldId id="275" r:id="rId9"/>
    <p:sldId id="276" r:id="rId10"/>
    <p:sldId id="277" r:id="rId11"/>
    <p:sldId id="274" r:id="rId12"/>
    <p:sldId id="272" r:id="rId13"/>
    <p:sldId id="262" r:id="rId14"/>
    <p:sldId id="267" r:id="rId15"/>
    <p:sldId id="273" r:id="rId16"/>
    <p:sldId id="263" r:id="rId17"/>
    <p:sldId id="264" r:id="rId18"/>
    <p:sldId id="265" r:id="rId19"/>
  </p:sldIdLst>
  <p:sldSz cx="14630400" cy="8229600"/>
  <p:notesSz cx="8229600" cy="14630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625" autoAdjust="0"/>
    <p:restoredTop sz="94610"/>
  </p:normalViewPr>
  <p:slideViewPr>
    <p:cSldViewPr snapToGrid="0" snapToObjects="1">
      <p:cViewPr varScale="1">
        <p:scale>
          <a:sx n="78" d="100"/>
          <a:sy n="78" d="100"/>
        </p:scale>
        <p:origin x="384"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10152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22037266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40753195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25688020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391335384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nvSpPr>
        <p:spPr>
          <a:xfrm>
            <a:off x="6153309" y="713120"/>
            <a:ext cx="7425452" cy="4234815"/>
          </a:xfrm>
          <a:prstGeom prst="rect">
            <a:avLst/>
          </a:prstGeom>
          <a:noFill/>
          <a:ln/>
        </p:spPr>
        <p:txBody>
          <a:bodyPr wrap="square" lIns="0" tIns="0" rIns="0" bIns="0" rtlCol="0" anchor="t"/>
          <a:lstStyle/>
          <a:p>
            <a:pPr marL="0" indent="0">
              <a:lnSpc>
                <a:spcPts val="8300"/>
              </a:lnSpc>
              <a:buNone/>
            </a:pPr>
            <a:r>
              <a:rPr lang="en-US" sz="3600" dirty="0"/>
              <a:t>AMARTEY DILLIION (10864295)</a:t>
            </a:r>
          </a:p>
          <a:p>
            <a:pPr marL="0" indent="0">
              <a:lnSpc>
                <a:spcPts val="8300"/>
              </a:lnSpc>
              <a:buNone/>
            </a:pPr>
            <a:r>
              <a:rPr lang="en-US" sz="3600" dirty="0"/>
              <a:t>JAKE SOMPA ASAMOAH (10901918)</a:t>
            </a:r>
          </a:p>
        </p:txBody>
      </p:sp>
      <p:sp>
        <p:nvSpPr>
          <p:cNvPr id="4" name="Text 1"/>
          <p:cNvSpPr/>
          <p:nvPr/>
        </p:nvSpPr>
        <p:spPr>
          <a:xfrm>
            <a:off x="6172680" y="6135607"/>
            <a:ext cx="7425452" cy="1571149"/>
          </a:xfrm>
          <a:prstGeom prst="rect">
            <a:avLst/>
          </a:prstGeom>
          <a:noFill/>
          <a:ln/>
        </p:spPr>
        <p:txBody>
          <a:bodyPr wrap="square" lIns="0" tIns="0" rIns="0" bIns="0" rtlCol="0" anchor="t"/>
          <a:lstStyle/>
          <a:p>
            <a:pPr marL="0" indent="0">
              <a:lnSpc>
                <a:spcPts val="3050"/>
              </a:lnSpc>
              <a:buNone/>
            </a:pPr>
            <a:r>
              <a:rPr lang="en-US" sz="1900" dirty="0"/>
              <a:t>SUPERVISOR - </a:t>
            </a:r>
            <a:r>
              <a:rPr lang="en-US" sz="1800" dirty="0">
                <a:effectLst/>
                <a:latin typeface="Aptos" panose="020B0004020202020204" pitchFamily="34" charset="0"/>
                <a:ea typeface="Aptos" panose="020B0004020202020204" pitchFamily="34" charset="0"/>
                <a:cs typeface="Times New Roman" panose="02020603050405020304" pitchFamily="18" charset="0"/>
              </a:rPr>
              <a:t>Dr. Aziz Abdullai Dwumfuor</a:t>
            </a:r>
            <a:endParaRPr lang="en-US" sz="1900" dirty="0"/>
          </a:p>
        </p:txBody>
      </p:sp>
      <p:sp>
        <p:nvSpPr>
          <p:cNvPr id="5" name="Shape 2"/>
          <p:cNvSpPr/>
          <p:nvPr/>
        </p:nvSpPr>
        <p:spPr>
          <a:xfrm>
            <a:off x="6345674" y="7143869"/>
            <a:ext cx="392787" cy="392787"/>
          </a:xfrm>
          <a:prstGeom prst="roundRect">
            <a:avLst>
              <a:gd name="adj" fmla="val 23277465"/>
            </a:avLst>
          </a:prstGeom>
          <a:noFill/>
          <a:ln w="7620">
            <a:solidFill>
              <a:srgbClr val="FFFFFF"/>
            </a:solidFill>
            <a:prstDash val="solid"/>
          </a:ln>
        </p:spPr>
        <p:txBody>
          <a:bodyPr/>
          <a:lstStyle/>
          <a:p>
            <a:endParaRPr lang="en-US"/>
          </a:p>
        </p:txBody>
      </p:sp>
      <p:pic>
        <p:nvPicPr>
          <p:cNvPr id="8" name="Picture 7" descr="A blue and gold logo&#10;&#10;Description automatically generated">
            <a:extLst>
              <a:ext uri="{FF2B5EF4-FFF2-40B4-BE49-F238E27FC236}">
                <a16:creationId xmlns:a16="http://schemas.microsoft.com/office/drawing/2014/main" id="{9A29EBEE-CA3C-1084-D436-9ED60363838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22756" y="3106496"/>
            <a:ext cx="2856865" cy="2856865"/>
          </a:xfrm>
          <a:prstGeom prst="rect">
            <a:avLst/>
          </a:prstGeom>
        </p:spPr>
      </p:pic>
      <p:pic>
        <p:nvPicPr>
          <p:cNvPr id="10" name="Image 1" descr="preencoded.png">
            <a:extLst>
              <a:ext uri="{FF2B5EF4-FFF2-40B4-BE49-F238E27FC236}">
                <a16:creationId xmlns:a16="http://schemas.microsoft.com/office/drawing/2014/main" id="{0744CDE4-D776-B238-B51C-41C197955E6D}"/>
              </a:ext>
            </a:extLst>
          </p:cNvPr>
          <p:cNvPicPr>
            <a:picLocks noChangeAspect="1"/>
          </p:cNvPicPr>
          <p:nvPr/>
        </p:nvPicPr>
        <p:blipFill>
          <a:blip r:embed="rId4"/>
          <a:stretch>
            <a:fillRect/>
          </a:stretch>
        </p:blipFill>
        <p:spPr>
          <a:xfrm>
            <a:off x="-1" y="0"/>
            <a:ext cx="5603631" cy="822959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pic>
        <p:nvPicPr>
          <p:cNvPr id="3" name="Image 1" descr="preencoded.png"/>
          <p:cNvPicPr>
            <a:picLocks noChangeAspect="1"/>
          </p:cNvPicPr>
          <p:nvPr/>
        </p:nvPicPr>
        <p:blipFill>
          <a:blip r:embed="rId4"/>
          <a:stretch>
            <a:fillRect/>
          </a:stretch>
        </p:blipFill>
        <p:spPr>
          <a:xfrm>
            <a:off x="280154" y="2250996"/>
            <a:ext cx="4926092" cy="3727490"/>
          </a:xfrm>
          <a:prstGeom prst="rect">
            <a:avLst/>
          </a:prstGeom>
        </p:spPr>
      </p:pic>
      <p:sp>
        <p:nvSpPr>
          <p:cNvPr id="4" name="Text 0"/>
          <p:cNvSpPr/>
          <p:nvPr/>
        </p:nvSpPr>
        <p:spPr>
          <a:xfrm>
            <a:off x="6270546" y="795933"/>
            <a:ext cx="7575709" cy="3865245"/>
          </a:xfrm>
          <a:prstGeom prst="rect">
            <a:avLst/>
          </a:prstGeom>
          <a:noFill/>
          <a:ln/>
        </p:spPr>
        <p:txBody>
          <a:bodyPr wrap="square" lIns="0" tIns="0" rIns="0" bIns="0" rtlCol="0" anchor="t"/>
          <a:lstStyle/>
          <a:p>
            <a:pPr marL="0" indent="0">
              <a:lnSpc>
                <a:spcPts val="7600"/>
              </a:lnSpc>
              <a:buNone/>
            </a:pPr>
            <a:r>
              <a:rPr lang="en-US" sz="6050" dirty="0">
                <a:latin typeface="Saira" pitchFamily="34" charset="0"/>
                <a:ea typeface="Saira" pitchFamily="34" charset="-122"/>
                <a:cs typeface="Saira" pitchFamily="34" charset="-120"/>
              </a:rPr>
              <a:t>Impact of Silhouette Feature Representations on Gait Analysis</a:t>
            </a:r>
            <a:endParaRPr lang="en-US" sz="6050" dirty="0"/>
          </a:p>
        </p:txBody>
      </p:sp>
      <p:sp>
        <p:nvSpPr>
          <p:cNvPr id="5" name="Text 1"/>
          <p:cNvSpPr/>
          <p:nvPr/>
        </p:nvSpPr>
        <p:spPr>
          <a:xfrm>
            <a:off x="6270546" y="4997172"/>
            <a:ext cx="7575709" cy="1792486"/>
          </a:xfrm>
          <a:prstGeom prst="rect">
            <a:avLst/>
          </a:prstGeom>
          <a:noFill/>
          <a:ln/>
        </p:spPr>
        <p:txBody>
          <a:bodyPr wrap="square" lIns="0" tIns="0" rIns="0" bIns="0" rtlCol="0" anchor="t"/>
          <a:lstStyle/>
          <a:p>
            <a:pPr marL="0" indent="0">
              <a:lnSpc>
                <a:spcPts val="2800"/>
              </a:lnSpc>
              <a:buNone/>
            </a:pPr>
            <a:r>
              <a:rPr lang="en-US" sz="1750" dirty="0">
                <a:latin typeface="Roboto" pitchFamily="34" charset="0"/>
                <a:ea typeface="Roboto" pitchFamily="34" charset="-122"/>
                <a:cs typeface="Roboto" pitchFamily="34" charset="-120"/>
              </a:rPr>
              <a:t>This presentation explores the impact of silhouette feature representations on gait analysis, particularly in the context of biometric recognition. We will delve into various techniques used to represent silhouette features, examine their strengths and limitations, and compare their influence on gait analysis for identification purposes.</a:t>
            </a:r>
            <a:endParaRPr lang="en-US" sz="1750" dirty="0"/>
          </a:p>
        </p:txBody>
      </p:sp>
      <p:sp>
        <p:nvSpPr>
          <p:cNvPr id="8" name="Text 3"/>
          <p:cNvSpPr/>
          <p:nvPr/>
        </p:nvSpPr>
        <p:spPr>
          <a:xfrm>
            <a:off x="6740962" y="7041713"/>
            <a:ext cx="2298621" cy="391954"/>
          </a:xfrm>
          <a:prstGeom prst="rect">
            <a:avLst/>
          </a:prstGeom>
          <a:noFill/>
          <a:ln/>
        </p:spPr>
        <p:txBody>
          <a:bodyPr wrap="none" lIns="0" tIns="0" rIns="0" bIns="0" rtlCol="0" anchor="t"/>
          <a:lstStyle/>
          <a:p>
            <a:pPr marL="0" indent="0" algn="l">
              <a:lnSpc>
                <a:spcPts val="3050"/>
              </a:lnSpc>
              <a:buNone/>
            </a:pP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864037" y="2161223"/>
            <a:ext cx="6320552" cy="771525"/>
          </a:xfrm>
          <a:prstGeom prst="rect">
            <a:avLst/>
          </a:prstGeom>
          <a:noFill/>
          <a:ln/>
        </p:spPr>
        <p:txBody>
          <a:bodyPr wrap="none" lIns="0" tIns="0" rIns="0" bIns="0" rtlCol="0" anchor="t"/>
          <a:lstStyle/>
          <a:p>
            <a:pPr marL="0" indent="0">
              <a:lnSpc>
                <a:spcPts val="6050"/>
              </a:lnSpc>
              <a:buNone/>
            </a:pPr>
            <a:r>
              <a:rPr lang="en-US" sz="4850" b="1" kern="0" spc="-146" dirty="0">
                <a:solidFill>
                  <a:srgbClr val="000000"/>
                </a:solidFill>
                <a:latin typeface="Inter" pitchFamily="34" charset="0"/>
                <a:ea typeface="Inter" pitchFamily="34" charset="-122"/>
                <a:cs typeface="Inter" pitchFamily="34" charset="-120"/>
              </a:rPr>
              <a:t>What is Gait Analysis?</a:t>
            </a:r>
            <a:endParaRPr lang="en-US" sz="4850" dirty="0"/>
          </a:p>
        </p:txBody>
      </p:sp>
      <p:sp>
        <p:nvSpPr>
          <p:cNvPr id="4" name="Text 1"/>
          <p:cNvSpPr/>
          <p:nvPr/>
        </p:nvSpPr>
        <p:spPr>
          <a:xfrm>
            <a:off x="864037" y="3303032"/>
            <a:ext cx="7415927" cy="2765346"/>
          </a:xfrm>
          <a:prstGeom prst="rect">
            <a:avLst/>
          </a:prstGeom>
          <a:noFill/>
          <a:ln/>
        </p:spPr>
        <p:txBody>
          <a:bodyPr wrap="square" lIns="0" tIns="0" rIns="0" bIns="0" rtlCol="0" anchor="t"/>
          <a:lstStyle/>
          <a:p>
            <a:pPr marL="0" indent="0">
              <a:lnSpc>
                <a:spcPts val="3100"/>
              </a:lnSpc>
              <a:buNone/>
            </a:pPr>
            <a:r>
              <a:rPr lang="en-US" sz="1900" kern="0" spc="-39" dirty="0">
                <a:solidFill>
                  <a:srgbClr val="272525"/>
                </a:solidFill>
                <a:latin typeface="Inter" pitchFamily="34" charset="0"/>
                <a:ea typeface="Inter" pitchFamily="34" charset="-122"/>
                <a:cs typeface="Inter" pitchFamily="34" charset="-120"/>
              </a:rPr>
              <a:t>Gait analysis is the study of human locomotion, focusing on the movement patterns of walking and running. It involves analyzing various aspects of gait, such as stride length, step frequency, and joint angles. This analysis can be used for various purposes, including identifying gait abnormalities, assessing the effectiveness of rehabilitation programs, and developing biometrics for identification.</a:t>
            </a:r>
            <a:endParaRPr lang="en-US" sz="1900" dirty="0"/>
          </a:p>
        </p:txBody>
      </p:sp>
      <p:sp>
        <p:nvSpPr>
          <p:cNvPr id="5" name="Text 0">
            <a:extLst>
              <a:ext uri="{FF2B5EF4-FFF2-40B4-BE49-F238E27FC236}">
                <a16:creationId xmlns:a16="http://schemas.microsoft.com/office/drawing/2014/main" id="{C676CA04-A2E6-22A5-1CED-83614523B777}"/>
              </a:ext>
            </a:extLst>
          </p:cNvPr>
          <p:cNvSpPr/>
          <p:nvPr/>
        </p:nvSpPr>
        <p:spPr>
          <a:xfrm>
            <a:off x="864037" y="1047037"/>
            <a:ext cx="6320552" cy="771525"/>
          </a:xfrm>
          <a:prstGeom prst="rect">
            <a:avLst/>
          </a:prstGeom>
          <a:noFill/>
          <a:ln/>
        </p:spPr>
        <p:txBody>
          <a:bodyPr wrap="none" lIns="0" tIns="0" rIns="0" bIns="0" rtlCol="0" anchor="t"/>
          <a:lstStyle/>
          <a:p>
            <a:pPr marL="0" indent="0">
              <a:lnSpc>
                <a:spcPts val="6050"/>
              </a:lnSpc>
              <a:buNone/>
            </a:pPr>
            <a:r>
              <a:rPr lang="en-US" sz="4850" b="1" kern="0" spc="-146" dirty="0">
                <a:solidFill>
                  <a:srgbClr val="000000"/>
                </a:solidFill>
                <a:latin typeface="Inter" pitchFamily="34" charset="0"/>
                <a:ea typeface="Inter" pitchFamily="34" charset="-122"/>
                <a:cs typeface="Inter" pitchFamily="34" charset="-120"/>
              </a:rPr>
              <a:t>INTRODUCTION</a:t>
            </a:r>
            <a:endParaRPr lang="en-US" sz="4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864037" y="1587222"/>
            <a:ext cx="7415927" cy="2314575"/>
          </a:xfrm>
          <a:prstGeom prst="rect">
            <a:avLst/>
          </a:prstGeom>
          <a:noFill/>
          <a:ln/>
        </p:spPr>
        <p:txBody>
          <a:bodyPr wrap="square" lIns="0" tIns="0" rIns="0" bIns="0" rtlCol="0" anchor="t"/>
          <a:lstStyle/>
          <a:p>
            <a:pPr marL="0" indent="0">
              <a:lnSpc>
                <a:spcPts val="6050"/>
              </a:lnSpc>
              <a:buNone/>
            </a:pPr>
            <a:r>
              <a:rPr lang="en-US" sz="4850" b="1" kern="0" spc="-146" dirty="0">
                <a:solidFill>
                  <a:srgbClr val="000000"/>
                </a:solidFill>
                <a:latin typeface="Inter" pitchFamily="34" charset="0"/>
                <a:ea typeface="Inter" pitchFamily="34" charset="-122"/>
                <a:cs typeface="Inter" pitchFamily="34" charset="-120"/>
              </a:rPr>
              <a:t>What are Silhouette Feature Representation Techniques?</a:t>
            </a:r>
            <a:endParaRPr lang="en-US" sz="4850" dirty="0"/>
          </a:p>
        </p:txBody>
      </p:sp>
      <p:sp>
        <p:nvSpPr>
          <p:cNvPr id="4" name="Text 1"/>
          <p:cNvSpPr/>
          <p:nvPr/>
        </p:nvSpPr>
        <p:spPr>
          <a:xfrm>
            <a:off x="864037" y="4272082"/>
            <a:ext cx="7415927" cy="2370296"/>
          </a:xfrm>
          <a:prstGeom prst="rect">
            <a:avLst/>
          </a:prstGeom>
          <a:noFill/>
          <a:ln/>
        </p:spPr>
        <p:txBody>
          <a:bodyPr wrap="square" lIns="0" tIns="0" rIns="0" bIns="0" rtlCol="0" anchor="t"/>
          <a:lstStyle/>
          <a:p>
            <a:pPr marL="0" indent="0">
              <a:lnSpc>
                <a:spcPts val="3100"/>
              </a:lnSpc>
              <a:buNone/>
            </a:pPr>
            <a:r>
              <a:rPr lang="en-US" sz="1900" kern="0" spc="-39" dirty="0">
                <a:solidFill>
                  <a:srgbClr val="272525"/>
                </a:solidFill>
                <a:latin typeface="Inter" pitchFamily="34" charset="0"/>
                <a:ea typeface="Inter" pitchFamily="34" charset="-122"/>
                <a:cs typeface="Inter" pitchFamily="34" charset="-120"/>
              </a:rPr>
              <a:t>Silhouette feature representation techniques are methods used to extract meaningful information from the silhouette of a person's body during walking. These techniques aim to capture the unique characteristics of a person's gait, such as the shape and movement of their limbs, by representing them in a way that can be easily analyzed and compared.</a:t>
            </a:r>
            <a:endParaRPr lang="en-US" sz="1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350437" y="894636"/>
            <a:ext cx="6172200" cy="771525"/>
          </a:xfrm>
          <a:prstGeom prst="rect">
            <a:avLst/>
          </a:prstGeom>
          <a:noFill/>
          <a:ln/>
        </p:spPr>
        <p:txBody>
          <a:bodyPr wrap="none" lIns="0" tIns="0" rIns="0" bIns="0" rtlCol="0" anchor="t"/>
          <a:lstStyle/>
          <a:p>
            <a:pPr marL="0" indent="0">
              <a:lnSpc>
                <a:spcPts val="6050"/>
              </a:lnSpc>
              <a:buNone/>
            </a:pPr>
            <a:r>
              <a:rPr lang="en-US" sz="4850" b="1" kern="0" spc="-146" dirty="0">
                <a:solidFill>
                  <a:srgbClr val="000000"/>
                </a:solidFill>
                <a:latin typeface="Inter" pitchFamily="34" charset="0"/>
                <a:ea typeface="Inter" pitchFamily="34" charset="-122"/>
                <a:cs typeface="Inter" pitchFamily="34" charset="-120"/>
              </a:rPr>
              <a:t>Research Questions</a:t>
            </a:r>
            <a:endParaRPr lang="en-US" sz="4850" dirty="0"/>
          </a:p>
        </p:txBody>
      </p:sp>
      <p:sp>
        <p:nvSpPr>
          <p:cNvPr id="4" name="Shape 1"/>
          <p:cNvSpPr/>
          <p:nvPr/>
        </p:nvSpPr>
        <p:spPr>
          <a:xfrm>
            <a:off x="6350437" y="2314099"/>
            <a:ext cx="555427" cy="555427"/>
          </a:xfrm>
          <a:prstGeom prst="roundRect">
            <a:avLst>
              <a:gd name="adj" fmla="val 18669"/>
            </a:avLst>
          </a:prstGeom>
          <a:solidFill>
            <a:srgbClr val="DADBF1"/>
          </a:solidFill>
          <a:ln w="15240">
            <a:solidFill>
              <a:srgbClr val="C0C1D7"/>
            </a:solidFill>
            <a:prstDash val="solid"/>
          </a:ln>
        </p:spPr>
        <p:txBody>
          <a:bodyPr/>
          <a:lstStyle/>
          <a:p>
            <a:endParaRPr lang="en-US"/>
          </a:p>
        </p:txBody>
      </p:sp>
      <p:sp>
        <p:nvSpPr>
          <p:cNvPr id="5" name="Text 2"/>
          <p:cNvSpPr/>
          <p:nvPr/>
        </p:nvSpPr>
        <p:spPr>
          <a:xfrm>
            <a:off x="6553795" y="2406610"/>
            <a:ext cx="148590" cy="370284"/>
          </a:xfrm>
          <a:prstGeom prst="rect">
            <a:avLst/>
          </a:prstGeom>
          <a:noFill/>
          <a:ln/>
        </p:spPr>
        <p:txBody>
          <a:bodyPr wrap="none" lIns="0" tIns="0" rIns="0" bIns="0" rtlCol="0" anchor="t"/>
          <a:lstStyle/>
          <a:p>
            <a:pPr marL="0" indent="0" algn="ctr">
              <a:lnSpc>
                <a:spcPts val="2900"/>
              </a:lnSpc>
              <a:buNone/>
            </a:pPr>
            <a:r>
              <a:rPr lang="en-US" sz="2900" b="1" kern="0" spc="-87" dirty="0">
                <a:solidFill>
                  <a:srgbClr val="272525"/>
                </a:solidFill>
                <a:latin typeface="Inter" pitchFamily="34" charset="0"/>
                <a:ea typeface="Inter" pitchFamily="34" charset="-122"/>
                <a:cs typeface="Inter" pitchFamily="34" charset="-120"/>
              </a:rPr>
              <a:t>1</a:t>
            </a:r>
            <a:endParaRPr lang="en-US" sz="2900" dirty="0"/>
          </a:p>
        </p:txBody>
      </p:sp>
      <p:sp>
        <p:nvSpPr>
          <p:cNvPr id="6" name="Text 3"/>
          <p:cNvSpPr/>
          <p:nvPr/>
        </p:nvSpPr>
        <p:spPr>
          <a:xfrm>
            <a:off x="7152680" y="2314099"/>
            <a:ext cx="6545937" cy="385763"/>
          </a:xfrm>
          <a:prstGeom prst="rect">
            <a:avLst/>
          </a:prstGeom>
          <a:noFill/>
          <a:ln/>
        </p:spPr>
        <p:txBody>
          <a:bodyPr wrap="none" lIns="0" tIns="0" rIns="0" bIns="0" rtlCol="0" anchor="t"/>
          <a:lstStyle/>
          <a:p>
            <a:pPr marL="0" indent="0">
              <a:lnSpc>
                <a:spcPts val="3000"/>
              </a:lnSpc>
              <a:buNone/>
            </a:pPr>
            <a:r>
              <a:rPr lang="en-US" sz="2400" b="1" kern="0" spc="-73" dirty="0">
                <a:solidFill>
                  <a:srgbClr val="272525"/>
                </a:solidFill>
                <a:latin typeface="Inter" pitchFamily="34" charset="0"/>
                <a:ea typeface="Inter" pitchFamily="34" charset="-122"/>
                <a:cs typeface="Inter" pitchFamily="34" charset="-120"/>
              </a:rPr>
              <a:t>Silhouette Feature Representation Techniques</a:t>
            </a:r>
            <a:endParaRPr lang="en-US" sz="2400" dirty="0"/>
          </a:p>
        </p:txBody>
      </p:sp>
      <p:sp>
        <p:nvSpPr>
          <p:cNvPr id="7" name="Text 4"/>
          <p:cNvSpPr/>
          <p:nvPr/>
        </p:nvSpPr>
        <p:spPr>
          <a:xfrm>
            <a:off x="7152680" y="2847975"/>
            <a:ext cx="6613684" cy="790099"/>
          </a:xfrm>
          <a:prstGeom prst="rect">
            <a:avLst/>
          </a:prstGeom>
          <a:noFill/>
          <a:ln/>
        </p:spPr>
        <p:txBody>
          <a:bodyPr wrap="square" lIns="0" tIns="0" rIns="0" bIns="0" rtlCol="0" anchor="t"/>
          <a:lstStyle/>
          <a:p>
            <a:pPr marL="0" indent="0">
              <a:lnSpc>
                <a:spcPts val="3100"/>
              </a:lnSpc>
              <a:buNone/>
            </a:pPr>
            <a:r>
              <a:rPr lang="en-US" sz="1900" kern="0" spc="-39" dirty="0">
                <a:solidFill>
                  <a:srgbClr val="272525"/>
                </a:solidFill>
                <a:latin typeface="Inter" pitchFamily="34" charset="0"/>
                <a:ea typeface="Inter" pitchFamily="34" charset="-122"/>
                <a:cs typeface="Inter" pitchFamily="34" charset="-120"/>
              </a:rPr>
              <a:t>What are the various silhouette feature representation techniques used in gait analysis?</a:t>
            </a:r>
            <a:endParaRPr lang="en-US" sz="1900" dirty="0"/>
          </a:p>
        </p:txBody>
      </p:sp>
      <p:sp>
        <p:nvSpPr>
          <p:cNvPr id="8" name="Shape 5"/>
          <p:cNvSpPr/>
          <p:nvPr/>
        </p:nvSpPr>
        <p:spPr>
          <a:xfrm>
            <a:off x="6350437" y="4162544"/>
            <a:ext cx="555427" cy="555427"/>
          </a:xfrm>
          <a:prstGeom prst="roundRect">
            <a:avLst>
              <a:gd name="adj" fmla="val 18669"/>
            </a:avLst>
          </a:prstGeom>
          <a:solidFill>
            <a:srgbClr val="DADBF1"/>
          </a:solidFill>
          <a:ln w="15240">
            <a:solidFill>
              <a:srgbClr val="C0C1D7"/>
            </a:solidFill>
            <a:prstDash val="solid"/>
          </a:ln>
        </p:spPr>
        <p:txBody>
          <a:bodyPr/>
          <a:lstStyle/>
          <a:p>
            <a:endParaRPr lang="en-US"/>
          </a:p>
        </p:txBody>
      </p:sp>
      <p:sp>
        <p:nvSpPr>
          <p:cNvPr id="9" name="Text 6"/>
          <p:cNvSpPr/>
          <p:nvPr/>
        </p:nvSpPr>
        <p:spPr>
          <a:xfrm>
            <a:off x="6517005" y="4255056"/>
            <a:ext cx="222171" cy="370284"/>
          </a:xfrm>
          <a:prstGeom prst="rect">
            <a:avLst/>
          </a:prstGeom>
          <a:noFill/>
          <a:ln/>
        </p:spPr>
        <p:txBody>
          <a:bodyPr wrap="none" lIns="0" tIns="0" rIns="0" bIns="0" rtlCol="0" anchor="t"/>
          <a:lstStyle/>
          <a:p>
            <a:pPr marL="0" indent="0" algn="ctr">
              <a:lnSpc>
                <a:spcPts val="2900"/>
              </a:lnSpc>
              <a:buNone/>
            </a:pPr>
            <a:r>
              <a:rPr lang="en-US" sz="2900" b="1" kern="0" spc="-87" dirty="0">
                <a:solidFill>
                  <a:srgbClr val="272525"/>
                </a:solidFill>
                <a:latin typeface="Inter" pitchFamily="34" charset="0"/>
                <a:ea typeface="Inter" pitchFamily="34" charset="-122"/>
                <a:cs typeface="Inter" pitchFamily="34" charset="-120"/>
              </a:rPr>
              <a:t>2</a:t>
            </a:r>
            <a:endParaRPr lang="en-US" sz="2900" dirty="0"/>
          </a:p>
        </p:txBody>
      </p:sp>
      <p:sp>
        <p:nvSpPr>
          <p:cNvPr id="10" name="Text 7"/>
          <p:cNvSpPr/>
          <p:nvPr/>
        </p:nvSpPr>
        <p:spPr>
          <a:xfrm>
            <a:off x="7152680" y="4162544"/>
            <a:ext cx="3901083" cy="385763"/>
          </a:xfrm>
          <a:prstGeom prst="rect">
            <a:avLst/>
          </a:prstGeom>
          <a:noFill/>
          <a:ln/>
        </p:spPr>
        <p:txBody>
          <a:bodyPr wrap="none" lIns="0" tIns="0" rIns="0" bIns="0" rtlCol="0" anchor="t"/>
          <a:lstStyle/>
          <a:p>
            <a:pPr marL="0" indent="0">
              <a:lnSpc>
                <a:spcPts val="3000"/>
              </a:lnSpc>
              <a:buNone/>
            </a:pPr>
            <a:r>
              <a:rPr lang="en-US" sz="2400" b="1" kern="0" spc="-73" dirty="0">
                <a:solidFill>
                  <a:srgbClr val="272525"/>
                </a:solidFill>
                <a:latin typeface="Inter" pitchFamily="34" charset="0"/>
                <a:ea typeface="Inter" pitchFamily="34" charset="-122"/>
                <a:cs typeface="Inter" pitchFamily="34" charset="-120"/>
              </a:rPr>
              <a:t>Strengths and Weaknesses</a:t>
            </a:r>
            <a:endParaRPr lang="en-US" sz="2400" dirty="0"/>
          </a:p>
        </p:txBody>
      </p:sp>
      <p:sp>
        <p:nvSpPr>
          <p:cNvPr id="11" name="Text 8"/>
          <p:cNvSpPr/>
          <p:nvPr/>
        </p:nvSpPr>
        <p:spPr>
          <a:xfrm>
            <a:off x="7152680" y="4696420"/>
            <a:ext cx="6613684" cy="790099"/>
          </a:xfrm>
          <a:prstGeom prst="rect">
            <a:avLst/>
          </a:prstGeom>
          <a:noFill/>
          <a:ln/>
        </p:spPr>
        <p:txBody>
          <a:bodyPr wrap="square" lIns="0" tIns="0" rIns="0" bIns="0" rtlCol="0" anchor="t"/>
          <a:lstStyle/>
          <a:p>
            <a:pPr marL="0" indent="0">
              <a:lnSpc>
                <a:spcPts val="3100"/>
              </a:lnSpc>
              <a:buNone/>
            </a:pPr>
            <a:r>
              <a:rPr lang="en-US" sz="1900" kern="0" spc="-39" dirty="0">
                <a:solidFill>
                  <a:srgbClr val="272525"/>
                </a:solidFill>
                <a:latin typeface="Inter" pitchFamily="34" charset="0"/>
                <a:ea typeface="Inter" pitchFamily="34" charset="-122"/>
                <a:cs typeface="Inter" pitchFamily="34" charset="-120"/>
              </a:rPr>
              <a:t>What are the strengths and weaknesses of each silhouette feature representation technique?</a:t>
            </a:r>
            <a:endParaRPr lang="en-US" sz="1900" dirty="0"/>
          </a:p>
        </p:txBody>
      </p:sp>
      <p:sp>
        <p:nvSpPr>
          <p:cNvPr id="12" name="Shape 9"/>
          <p:cNvSpPr/>
          <p:nvPr/>
        </p:nvSpPr>
        <p:spPr>
          <a:xfrm>
            <a:off x="6350437" y="6010989"/>
            <a:ext cx="555427" cy="555427"/>
          </a:xfrm>
          <a:prstGeom prst="roundRect">
            <a:avLst>
              <a:gd name="adj" fmla="val 18669"/>
            </a:avLst>
          </a:prstGeom>
          <a:solidFill>
            <a:srgbClr val="DADBF1"/>
          </a:solidFill>
          <a:ln w="15240">
            <a:solidFill>
              <a:srgbClr val="C0C1D7"/>
            </a:solidFill>
            <a:prstDash val="solid"/>
          </a:ln>
        </p:spPr>
        <p:txBody>
          <a:bodyPr/>
          <a:lstStyle/>
          <a:p>
            <a:endParaRPr lang="en-US"/>
          </a:p>
        </p:txBody>
      </p:sp>
      <p:sp>
        <p:nvSpPr>
          <p:cNvPr id="13" name="Text 10"/>
          <p:cNvSpPr/>
          <p:nvPr/>
        </p:nvSpPr>
        <p:spPr>
          <a:xfrm>
            <a:off x="6514148" y="6103501"/>
            <a:ext cx="228005" cy="370284"/>
          </a:xfrm>
          <a:prstGeom prst="rect">
            <a:avLst/>
          </a:prstGeom>
          <a:noFill/>
          <a:ln/>
        </p:spPr>
        <p:txBody>
          <a:bodyPr wrap="none" lIns="0" tIns="0" rIns="0" bIns="0" rtlCol="0" anchor="t"/>
          <a:lstStyle/>
          <a:p>
            <a:pPr marL="0" indent="0" algn="ctr">
              <a:lnSpc>
                <a:spcPts val="2900"/>
              </a:lnSpc>
              <a:buNone/>
            </a:pPr>
            <a:r>
              <a:rPr lang="en-US" sz="2900" b="1" kern="0" spc="-87" dirty="0">
                <a:solidFill>
                  <a:srgbClr val="272525"/>
                </a:solidFill>
                <a:latin typeface="Inter" pitchFamily="34" charset="0"/>
                <a:ea typeface="Inter" pitchFamily="34" charset="-122"/>
                <a:cs typeface="Inter" pitchFamily="34" charset="-120"/>
              </a:rPr>
              <a:t>3</a:t>
            </a:r>
            <a:endParaRPr lang="en-US" sz="2900" dirty="0"/>
          </a:p>
        </p:txBody>
      </p:sp>
      <p:sp>
        <p:nvSpPr>
          <p:cNvPr id="14" name="Text 11"/>
          <p:cNvSpPr/>
          <p:nvPr/>
        </p:nvSpPr>
        <p:spPr>
          <a:xfrm>
            <a:off x="7152680" y="6010989"/>
            <a:ext cx="3338393" cy="385763"/>
          </a:xfrm>
          <a:prstGeom prst="rect">
            <a:avLst/>
          </a:prstGeom>
          <a:noFill/>
          <a:ln/>
        </p:spPr>
        <p:txBody>
          <a:bodyPr wrap="none" lIns="0" tIns="0" rIns="0" bIns="0" rtlCol="0" anchor="t"/>
          <a:lstStyle/>
          <a:p>
            <a:pPr marL="0" indent="0">
              <a:lnSpc>
                <a:spcPts val="3000"/>
              </a:lnSpc>
              <a:buNone/>
            </a:pPr>
            <a:r>
              <a:rPr lang="en-US" sz="2400" b="1" kern="0" spc="-73" dirty="0">
                <a:solidFill>
                  <a:srgbClr val="272525"/>
                </a:solidFill>
                <a:latin typeface="Inter" pitchFamily="34" charset="0"/>
                <a:ea typeface="Inter" pitchFamily="34" charset="-122"/>
                <a:cs typeface="Inter" pitchFamily="34" charset="-120"/>
              </a:rPr>
              <a:t>Impact on Gait Analysis</a:t>
            </a:r>
            <a:endParaRPr lang="en-US" sz="2400" dirty="0"/>
          </a:p>
        </p:txBody>
      </p:sp>
      <p:sp>
        <p:nvSpPr>
          <p:cNvPr id="15" name="Text 12"/>
          <p:cNvSpPr/>
          <p:nvPr/>
        </p:nvSpPr>
        <p:spPr>
          <a:xfrm>
            <a:off x="7152680" y="6544866"/>
            <a:ext cx="6613684" cy="790099"/>
          </a:xfrm>
          <a:prstGeom prst="rect">
            <a:avLst/>
          </a:prstGeom>
          <a:noFill/>
          <a:ln/>
        </p:spPr>
        <p:txBody>
          <a:bodyPr wrap="square" lIns="0" tIns="0" rIns="0" bIns="0" rtlCol="0" anchor="t"/>
          <a:lstStyle/>
          <a:p>
            <a:pPr marL="0" indent="0">
              <a:lnSpc>
                <a:spcPts val="3100"/>
              </a:lnSpc>
              <a:buNone/>
            </a:pPr>
            <a:r>
              <a:rPr lang="en-US" sz="1900" kern="0" spc="-39" dirty="0">
                <a:solidFill>
                  <a:srgbClr val="272525"/>
                </a:solidFill>
                <a:latin typeface="Inter" pitchFamily="34" charset="0"/>
                <a:ea typeface="Inter" pitchFamily="34" charset="-122"/>
                <a:cs typeface="Inter" pitchFamily="34" charset="-120"/>
              </a:rPr>
              <a:t>How have these techniques impacted gait analysis, particularly in the field of biometric recognition?</a:t>
            </a:r>
            <a:endParaRPr lang="en-US" sz="1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32696"/>
          </a:xfrm>
          <a:prstGeom prst="rect">
            <a:avLst/>
          </a:prstGeom>
        </p:spPr>
      </p:pic>
      <p:sp>
        <p:nvSpPr>
          <p:cNvPr id="3" name="Text 0"/>
          <p:cNvSpPr/>
          <p:nvPr/>
        </p:nvSpPr>
        <p:spPr>
          <a:xfrm>
            <a:off x="738664" y="580311"/>
            <a:ext cx="5276612" cy="659606"/>
          </a:xfrm>
          <a:prstGeom prst="rect">
            <a:avLst/>
          </a:prstGeom>
          <a:noFill/>
          <a:ln/>
        </p:spPr>
        <p:txBody>
          <a:bodyPr wrap="none" lIns="0" tIns="0" rIns="0" bIns="0" rtlCol="0" anchor="t"/>
          <a:lstStyle/>
          <a:p>
            <a:pPr marL="0" indent="0">
              <a:lnSpc>
                <a:spcPts val="5150"/>
              </a:lnSpc>
              <a:buNone/>
            </a:pPr>
            <a:r>
              <a:rPr lang="en-US" sz="4150" b="1" kern="0" spc="-125" dirty="0">
                <a:solidFill>
                  <a:srgbClr val="000000"/>
                </a:solidFill>
                <a:latin typeface="Inter" pitchFamily="34" charset="0"/>
                <a:ea typeface="Inter" pitchFamily="34" charset="-122"/>
                <a:cs typeface="Inter" pitchFamily="34" charset="-120"/>
              </a:rPr>
              <a:t>Objectives</a:t>
            </a:r>
            <a:endParaRPr lang="en-US" sz="4150" dirty="0"/>
          </a:p>
        </p:txBody>
      </p:sp>
      <p:sp>
        <p:nvSpPr>
          <p:cNvPr id="4" name="Shape 1"/>
          <p:cNvSpPr/>
          <p:nvPr/>
        </p:nvSpPr>
        <p:spPr>
          <a:xfrm>
            <a:off x="1043821" y="1556504"/>
            <a:ext cx="22860" cy="6095881"/>
          </a:xfrm>
          <a:prstGeom prst="roundRect">
            <a:avLst>
              <a:gd name="adj" fmla="val 387782"/>
            </a:avLst>
          </a:prstGeom>
          <a:solidFill>
            <a:srgbClr val="C0C1D7"/>
          </a:solidFill>
          <a:ln/>
        </p:spPr>
        <p:txBody>
          <a:bodyPr/>
          <a:lstStyle/>
          <a:p>
            <a:endParaRPr lang="en-US"/>
          </a:p>
        </p:txBody>
      </p:sp>
      <p:sp>
        <p:nvSpPr>
          <p:cNvPr id="5" name="Shape 2"/>
          <p:cNvSpPr/>
          <p:nvPr/>
        </p:nvSpPr>
        <p:spPr>
          <a:xfrm>
            <a:off x="1269802" y="2019895"/>
            <a:ext cx="738664" cy="22860"/>
          </a:xfrm>
          <a:prstGeom prst="roundRect">
            <a:avLst>
              <a:gd name="adj" fmla="val 387782"/>
            </a:avLst>
          </a:prstGeom>
          <a:solidFill>
            <a:srgbClr val="C0C1D7"/>
          </a:solidFill>
          <a:ln/>
        </p:spPr>
        <p:txBody>
          <a:bodyPr/>
          <a:lstStyle/>
          <a:p>
            <a:endParaRPr lang="en-US"/>
          </a:p>
        </p:txBody>
      </p:sp>
      <p:sp>
        <p:nvSpPr>
          <p:cNvPr id="6" name="Shape 3"/>
          <p:cNvSpPr/>
          <p:nvPr/>
        </p:nvSpPr>
        <p:spPr>
          <a:xfrm>
            <a:off x="817840" y="1793915"/>
            <a:ext cx="474821" cy="474821"/>
          </a:xfrm>
          <a:prstGeom prst="roundRect">
            <a:avLst>
              <a:gd name="adj" fmla="val 18670"/>
            </a:avLst>
          </a:prstGeom>
          <a:solidFill>
            <a:srgbClr val="DADBF1"/>
          </a:solidFill>
          <a:ln w="7620">
            <a:solidFill>
              <a:srgbClr val="C0C1D7"/>
            </a:solidFill>
            <a:prstDash val="solid"/>
          </a:ln>
        </p:spPr>
        <p:txBody>
          <a:bodyPr/>
          <a:lstStyle/>
          <a:p>
            <a:endParaRPr lang="en-US"/>
          </a:p>
        </p:txBody>
      </p:sp>
      <p:sp>
        <p:nvSpPr>
          <p:cNvPr id="7" name="Text 4"/>
          <p:cNvSpPr/>
          <p:nvPr/>
        </p:nvSpPr>
        <p:spPr>
          <a:xfrm>
            <a:off x="991672" y="1872972"/>
            <a:ext cx="127040" cy="316587"/>
          </a:xfrm>
          <a:prstGeom prst="rect">
            <a:avLst/>
          </a:prstGeom>
          <a:noFill/>
          <a:ln/>
        </p:spPr>
        <p:txBody>
          <a:bodyPr wrap="none" lIns="0" tIns="0" rIns="0" bIns="0" rtlCol="0" anchor="t"/>
          <a:lstStyle/>
          <a:p>
            <a:pPr marL="0" indent="0" algn="ctr">
              <a:lnSpc>
                <a:spcPts val="2450"/>
              </a:lnSpc>
              <a:buNone/>
            </a:pPr>
            <a:r>
              <a:rPr lang="en-US" sz="2450" b="1" kern="0" spc="-75" dirty="0">
                <a:solidFill>
                  <a:srgbClr val="272525"/>
                </a:solidFill>
                <a:latin typeface="Inter" pitchFamily="34" charset="0"/>
                <a:ea typeface="Inter" pitchFamily="34" charset="-122"/>
                <a:cs typeface="Inter" pitchFamily="34" charset="-120"/>
              </a:rPr>
              <a:t>1</a:t>
            </a:r>
            <a:endParaRPr lang="en-US" sz="2450" dirty="0"/>
          </a:p>
        </p:txBody>
      </p:sp>
      <p:sp>
        <p:nvSpPr>
          <p:cNvPr id="8" name="Text 5"/>
          <p:cNvSpPr/>
          <p:nvPr/>
        </p:nvSpPr>
        <p:spPr>
          <a:xfrm>
            <a:off x="2215991" y="1767483"/>
            <a:ext cx="2638306" cy="329803"/>
          </a:xfrm>
          <a:prstGeom prst="rect">
            <a:avLst/>
          </a:prstGeom>
          <a:noFill/>
          <a:ln/>
        </p:spPr>
        <p:txBody>
          <a:bodyPr wrap="none" lIns="0" tIns="0" rIns="0" bIns="0" rtlCol="0" anchor="t"/>
          <a:lstStyle/>
          <a:p>
            <a:pPr marL="0" indent="0" algn="l">
              <a:lnSpc>
                <a:spcPts val="2550"/>
              </a:lnSpc>
              <a:buNone/>
            </a:pPr>
            <a:r>
              <a:rPr lang="en-US" sz="2050" b="1" kern="0" spc="-62" dirty="0">
                <a:solidFill>
                  <a:srgbClr val="272525"/>
                </a:solidFill>
                <a:latin typeface="Inter" pitchFamily="34" charset="0"/>
                <a:ea typeface="Inter" pitchFamily="34" charset="-122"/>
                <a:cs typeface="Inter" pitchFamily="34" charset="-120"/>
              </a:rPr>
              <a:t>Identify Techniques</a:t>
            </a:r>
            <a:endParaRPr lang="en-US" sz="2050" dirty="0"/>
          </a:p>
        </p:txBody>
      </p:sp>
      <p:sp>
        <p:nvSpPr>
          <p:cNvPr id="9" name="Text 6"/>
          <p:cNvSpPr/>
          <p:nvPr/>
        </p:nvSpPr>
        <p:spPr>
          <a:xfrm>
            <a:off x="2215991" y="2223849"/>
            <a:ext cx="6189345" cy="675323"/>
          </a:xfrm>
          <a:prstGeom prst="rect">
            <a:avLst/>
          </a:prstGeom>
          <a:noFill/>
          <a:ln/>
        </p:spPr>
        <p:txBody>
          <a:bodyPr wrap="square" lIns="0" tIns="0" rIns="0" bIns="0" rtlCol="0" anchor="t"/>
          <a:lstStyle/>
          <a:p>
            <a:pPr marL="0" indent="0" algn="l">
              <a:lnSpc>
                <a:spcPts val="2650"/>
              </a:lnSpc>
              <a:buNone/>
            </a:pPr>
            <a:r>
              <a:rPr lang="en-US" sz="1650" kern="0" spc="-33" dirty="0">
                <a:solidFill>
                  <a:srgbClr val="272525"/>
                </a:solidFill>
                <a:latin typeface="Inter" pitchFamily="34" charset="0"/>
                <a:ea typeface="Inter" pitchFamily="34" charset="-122"/>
                <a:cs typeface="Inter" pitchFamily="34" charset="-120"/>
              </a:rPr>
              <a:t>Identify and categorize various silhouette feature representation techniques used in gait analysis.</a:t>
            </a:r>
            <a:endParaRPr lang="en-US" sz="1650" dirty="0"/>
          </a:p>
        </p:txBody>
      </p:sp>
      <p:sp>
        <p:nvSpPr>
          <p:cNvPr id="10" name="Shape 7"/>
          <p:cNvSpPr/>
          <p:nvPr/>
        </p:nvSpPr>
        <p:spPr>
          <a:xfrm>
            <a:off x="1269802" y="3784521"/>
            <a:ext cx="738664" cy="22860"/>
          </a:xfrm>
          <a:prstGeom prst="roundRect">
            <a:avLst>
              <a:gd name="adj" fmla="val 387782"/>
            </a:avLst>
          </a:prstGeom>
          <a:solidFill>
            <a:srgbClr val="C0C1D7"/>
          </a:solidFill>
          <a:ln/>
        </p:spPr>
        <p:txBody>
          <a:bodyPr/>
          <a:lstStyle/>
          <a:p>
            <a:endParaRPr lang="en-US"/>
          </a:p>
        </p:txBody>
      </p:sp>
      <p:sp>
        <p:nvSpPr>
          <p:cNvPr id="11" name="Shape 8"/>
          <p:cNvSpPr/>
          <p:nvPr/>
        </p:nvSpPr>
        <p:spPr>
          <a:xfrm>
            <a:off x="817840" y="3558540"/>
            <a:ext cx="474821" cy="474821"/>
          </a:xfrm>
          <a:prstGeom prst="roundRect">
            <a:avLst>
              <a:gd name="adj" fmla="val 18670"/>
            </a:avLst>
          </a:prstGeom>
          <a:solidFill>
            <a:srgbClr val="DADBF1"/>
          </a:solidFill>
          <a:ln w="7620">
            <a:solidFill>
              <a:srgbClr val="C0C1D7"/>
            </a:solidFill>
            <a:prstDash val="solid"/>
          </a:ln>
        </p:spPr>
        <p:txBody>
          <a:bodyPr/>
          <a:lstStyle/>
          <a:p>
            <a:endParaRPr lang="en-US"/>
          </a:p>
        </p:txBody>
      </p:sp>
      <p:sp>
        <p:nvSpPr>
          <p:cNvPr id="12" name="Text 9"/>
          <p:cNvSpPr/>
          <p:nvPr/>
        </p:nvSpPr>
        <p:spPr>
          <a:xfrm>
            <a:off x="960239" y="3637598"/>
            <a:ext cx="189905" cy="316587"/>
          </a:xfrm>
          <a:prstGeom prst="rect">
            <a:avLst/>
          </a:prstGeom>
          <a:noFill/>
          <a:ln/>
        </p:spPr>
        <p:txBody>
          <a:bodyPr wrap="none" lIns="0" tIns="0" rIns="0" bIns="0" rtlCol="0" anchor="t"/>
          <a:lstStyle/>
          <a:p>
            <a:pPr marL="0" indent="0" algn="ctr">
              <a:lnSpc>
                <a:spcPts val="2450"/>
              </a:lnSpc>
              <a:buNone/>
            </a:pPr>
            <a:r>
              <a:rPr lang="en-US" sz="2450" b="1" kern="0" spc="-75" dirty="0">
                <a:solidFill>
                  <a:srgbClr val="272525"/>
                </a:solidFill>
                <a:latin typeface="Inter" pitchFamily="34" charset="0"/>
                <a:ea typeface="Inter" pitchFamily="34" charset="-122"/>
                <a:cs typeface="Inter" pitchFamily="34" charset="-120"/>
              </a:rPr>
              <a:t>2</a:t>
            </a:r>
            <a:endParaRPr lang="en-US" sz="2450" dirty="0"/>
          </a:p>
        </p:txBody>
      </p:sp>
      <p:sp>
        <p:nvSpPr>
          <p:cNvPr id="13" name="Text 10"/>
          <p:cNvSpPr/>
          <p:nvPr/>
        </p:nvSpPr>
        <p:spPr>
          <a:xfrm>
            <a:off x="2215991" y="3532108"/>
            <a:ext cx="4501515" cy="329803"/>
          </a:xfrm>
          <a:prstGeom prst="rect">
            <a:avLst/>
          </a:prstGeom>
          <a:noFill/>
          <a:ln/>
        </p:spPr>
        <p:txBody>
          <a:bodyPr wrap="none" lIns="0" tIns="0" rIns="0" bIns="0" rtlCol="0" anchor="t"/>
          <a:lstStyle/>
          <a:p>
            <a:pPr marL="0" indent="0" algn="l">
              <a:lnSpc>
                <a:spcPts val="2550"/>
              </a:lnSpc>
              <a:buNone/>
            </a:pPr>
            <a:r>
              <a:rPr lang="en-US" sz="2050" b="1" kern="0" spc="-62" dirty="0">
                <a:solidFill>
                  <a:srgbClr val="272525"/>
                </a:solidFill>
                <a:latin typeface="Inter" pitchFamily="34" charset="0"/>
                <a:ea typeface="Inter" pitchFamily="34" charset="-122"/>
                <a:cs typeface="Inter" pitchFamily="34" charset="-120"/>
              </a:rPr>
              <a:t>Investigate Limitations and Strengths</a:t>
            </a:r>
            <a:endParaRPr lang="en-US" sz="2050" dirty="0"/>
          </a:p>
        </p:txBody>
      </p:sp>
      <p:sp>
        <p:nvSpPr>
          <p:cNvPr id="14" name="Text 11"/>
          <p:cNvSpPr/>
          <p:nvPr/>
        </p:nvSpPr>
        <p:spPr>
          <a:xfrm>
            <a:off x="2215991" y="3988475"/>
            <a:ext cx="6189345" cy="1012984"/>
          </a:xfrm>
          <a:prstGeom prst="rect">
            <a:avLst/>
          </a:prstGeom>
          <a:noFill/>
          <a:ln/>
        </p:spPr>
        <p:txBody>
          <a:bodyPr wrap="square" lIns="0" tIns="0" rIns="0" bIns="0" rtlCol="0" anchor="t"/>
          <a:lstStyle/>
          <a:p>
            <a:pPr marL="0" indent="0" algn="l">
              <a:lnSpc>
                <a:spcPts val="2650"/>
              </a:lnSpc>
              <a:buNone/>
            </a:pPr>
            <a:r>
              <a:rPr lang="en-US" sz="1650" kern="0" spc="-33" dirty="0">
                <a:solidFill>
                  <a:srgbClr val="272525"/>
                </a:solidFill>
                <a:latin typeface="Inter" pitchFamily="34" charset="0"/>
                <a:ea typeface="Inter" pitchFamily="34" charset="-122"/>
                <a:cs typeface="Inter" pitchFamily="34" charset="-120"/>
              </a:rPr>
              <a:t>Investigate the limitations and strengths of each technique, considering factors like accuracy, computational cost, and robustness to variations in gait.</a:t>
            </a:r>
            <a:endParaRPr lang="en-US" sz="1650" dirty="0"/>
          </a:p>
        </p:txBody>
      </p:sp>
      <p:sp>
        <p:nvSpPr>
          <p:cNvPr id="15" name="Shape 12"/>
          <p:cNvSpPr/>
          <p:nvPr/>
        </p:nvSpPr>
        <p:spPr>
          <a:xfrm>
            <a:off x="1269802" y="5886807"/>
            <a:ext cx="738664" cy="22860"/>
          </a:xfrm>
          <a:prstGeom prst="roundRect">
            <a:avLst>
              <a:gd name="adj" fmla="val 387782"/>
            </a:avLst>
          </a:prstGeom>
          <a:solidFill>
            <a:srgbClr val="C0C1D7"/>
          </a:solidFill>
          <a:ln/>
        </p:spPr>
        <p:txBody>
          <a:bodyPr/>
          <a:lstStyle/>
          <a:p>
            <a:endParaRPr lang="en-US"/>
          </a:p>
        </p:txBody>
      </p:sp>
      <p:sp>
        <p:nvSpPr>
          <p:cNvPr id="16" name="Shape 13"/>
          <p:cNvSpPr/>
          <p:nvPr/>
        </p:nvSpPr>
        <p:spPr>
          <a:xfrm>
            <a:off x="817840" y="5660827"/>
            <a:ext cx="474821" cy="474821"/>
          </a:xfrm>
          <a:prstGeom prst="roundRect">
            <a:avLst>
              <a:gd name="adj" fmla="val 18670"/>
            </a:avLst>
          </a:prstGeom>
          <a:solidFill>
            <a:srgbClr val="DADBF1"/>
          </a:solidFill>
          <a:ln w="7620">
            <a:solidFill>
              <a:srgbClr val="C0C1D7"/>
            </a:solidFill>
            <a:prstDash val="solid"/>
          </a:ln>
        </p:spPr>
        <p:txBody>
          <a:bodyPr/>
          <a:lstStyle/>
          <a:p>
            <a:endParaRPr lang="en-US"/>
          </a:p>
        </p:txBody>
      </p:sp>
      <p:sp>
        <p:nvSpPr>
          <p:cNvPr id="17" name="Text 14"/>
          <p:cNvSpPr/>
          <p:nvPr/>
        </p:nvSpPr>
        <p:spPr>
          <a:xfrm>
            <a:off x="957858" y="5739884"/>
            <a:ext cx="194786" cy="316587"/>
          </a:xfrm>
          <a:prstGeom prst="rect">
            <a:avLst/>
          </a:prstGeom>
          <a:noFill/>
          <a:ln/>
        </p:spPr>
        <p:txBody>
          <a:bodyPr wrap="none" lIns="0" tIns="0" rIns="0" bIns="0" rtlCol="0" anchor="t"/>
          <a:lstStyle/>
          <a:p>
            <a:pPr marL="0" indent="0" algn="ctr">
              <a:lnSpc>
                <a:spcPts val="2450"/>
              </a:lnSpc>
              <a:buNone/>
            </a:pPr>
            <a:r>
              <a:rPr lang="en-US" sz="2450" b="1" kern="0" spc="-75" dirty="0">
                <a:solidFill>
                  <a:srgbClr val="272525"/>
                </a:solidFill>
                <a:latin typeface="Inter" pitchFamily="34" charset="0"/>
                <a:ea typeface="Inter" pitchFamily="34" charset="-122"/>
                <a:cs typeface="Inter" pitchFamily="34" charset="-120"/>
              </a:rPr>
              <a:t>3</a:t>
            </a:r>
            <a:endParaRPr lang="en-US" sz="2450" dirty="0"/>
          </a:p>
        </p:txBody>
      </p:sp>
      <p:sp>
        <p:nvSpPr>
          <p:cNvPr id="18" name="Text 15"/>
          <p:cNvSpPr/>
          <p:nvPr/>
        </p:nvSpPr>
        <p:spPr>
          <a:xfrm>
            <a:off x="2215991" y="5634395"/>
            <a:ext cx="2638306" cy="329803"/>
          </a:xfrm>
          <a:prstGeom prst="rect">
            <a:avLst/>
          </a:prstGeom>
          <a:noFill/>
          <a:ln/>
        </p:spPr>
        <p:txBody>
          <a:bodyPr wrap="none" lIns="0" tIns="0" rIns="0" bIns="0" rtlCol="0" anchor="t"/>
          <a:lstStyle/>
          <a:p>
            <a:pPr marL="0" indent="0" algn="l">
              <a:lnSpc>
                <a:spcPts val="2550"/>
              </a:lnSpc>
              <a:buNone/>
            </a:pPr>
            <a:r>
              <a:rPr lang="en-US" sz="2050" b="1" kern="0" spc="-62" dirty="0">
                <a:solidFill>
                  <a:srgbClr val="272525"/>
                </a:solidFill>
                <a:latin typeface="Inter" pitchFamily="34" charset="0"/>
                <a:ea typeface="Inter" pitchFamily="34" charset="-122"/>
                <a:cs typeface="Inter" pitchFamily="34" charset="-120"/>
              </a:rPr>
              <a:t>Compare Impact</a:t>
            </a:r>
            <a:endParaRPr lang="en-US" sz="2050" dirty="0"/>
          </a:p>
        </p:txBody>
      </p:sp>
      <p:sp>
        <p:nvSpPr>
          <p:cNvPr id="19" name="Text 16"/>
          <p:cNvSpPr/>
          <p:nvPr/>
        </p:nvSpPr>
        <p:spPr>
          <a:xfrm>
            <a:off x="2215991" y="6090761"/>
            <a:ext cx="6189345" cy="1350645"/>
          </a:xfrm>
          <a:prstGeom prst="rect">
            <a:avLst/>
          </a:prstGeom>
          <a:noFill/>
          <a:ln/>
        </p:spPr>
        <p:txBody>
          <a:bodyPr wrap="square" lIns="0" tIns="0" rIns="0" bIns="0" rtlCol="0" anchor="t"/>
          <a:lstStyle/>
          <a:p>
            <a:pPr marL="0" indent="0" algn="l">
              <a:lnSpc>
                <a:spcPts val="2650"/>
              </a:lnSpc>
              <a:buNone/>
            </a:pPr>
            <a:r>
              <a:rPr lang="en-US" sz="1650" kern="0" spc="-33" dirty="0">
                <a:solidFill>
                  <a:srgbClr val="272525"/>
                </a:solidFill>
                <a:latin typeface="Inter" pitchFamily="34" charset="0"/>
                <a:ea typeface="Inter" pitchFamily="34" charset="-122"/>
                <a:cs typeface="Inter" pitchFamily="34" charset="-120"/>
              </a:rPr>
              <a:t>Compare how different silhouette feature representation techniques have impacted gait analysis for biometric recognition, considering their effectiveness in identifying individuals based on their walking patterns.</a:t>
            </a:r>
            <a:endParaRPr lang="en-US" sz="16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72095" y="169363"/>
            <a:ext cx="8257580" cy="419100"/>
          </a:xfrm>
          <a:prstGeom prst="rect">
            <a:avLst/>
          </a:prstGeom>
          <a:noFill/>
          <a:ln/>
        </p:spPr>
        <p:txBody>
          <a:bodyPr wrap="none" lIns="0" tIns="0" rIns="0" bIns="0" rtlCol="0" anchor="t"/>
          <a:lstStyle/>
          <a:p>
            <a:pPr marL="0" indent="0">
              <a:lnSpc>
                <a:spcPts val="3300"/>
              </a:lnSpc>
              <a:buNone/>
            </a:pPr>
            <a:r>
              <a:rPr lang="en-US" sz="2600" b="1" kern="0" spc="-79" dirty="0">
                <a:solidFill>
                  <a:srgbClr val="000000"/>
                </a:solidFill>
                <a:latin typeface="Inter" pitchFamily="34" charset="0"/>
                <a:ea typeface="Inter" pitchFamily="34" charset="-122"/>
                <a:cs typeface="Inter" pitchFamily="34" charset="-120"/>
              </a:rPr>
              <a:t>Literature Review: Silhouette Feature Representations</a:t>
            </a:r>
            <a:endParaRPr lang="en-US" sz="2600" dirty="0"/>
          </a:p>
        </p:txBody>
      </p:sp>
      <p:sp>
        <p:nvSpPr>
          <p:cNvPr id="3" name="Text 1"/>
          <p:cNvSpPr/>
          <p:nvPr/>
        </p:nvSpPr>
        <p:spPr>
          <a:xfrm>
            <a:off x="786641" y="563067"/>
            <a:ext cx="13486209" cy="1013982"/>
          </a:xfrm>
          <a:prstGeom prst="rect">
            <a:avLst/>
          </a:prstGeom>
          <a:noFill/>
          <a:ln/>
        </p:spPr>
        <p:txBody>
          <a:bodyPr wrap="square" lIns="0" tIns="0" rIns="0" bIns="0" rtlCol="0" anchor="t"/>
          <a:lstStyle/>
          <a:p>
            <a:pPr marL="0" indent="0">
              <a:buNone/>
            </a:pPr>
            <a:r>
              <a:rPr lang="en-US" sz="2000" kern="0" spc="-21" dirty="0">
                <a:solidFill>
                  <a:srgbClr val="272525"/>
                </a:solidFill>
                <a:latin typeface="Inter" pitchFamily="34" charset="0"/>
                <a:ea typeface="Inter" pitchFamily="34" charset="-122"/>
                <a:cs typeface="Inter" pitchFamily="34" charset="-120"/>
              </a:rPr>
              <a:t>The </a:t>
            </a:r>
            <a:r>
              <a:rPr lang="en-US" kern="0" spc="-21" dirty="0">
                <a:solidFill>
                  <a:srgbClr val="272525"/>
                </a:solidFill>
                <a:latin typeface="Inter" pitchFamily="34" charset="0"/>
                <a:ea typeface="Inter" pitchFamily="34" charset="-122"/>
                <a:cs typeface="Inter" pitchFamily="34" charset="-120"/>
              </a:rPr>
              <a:t>literature</a:t>
            </a:r>
            <a:r>
              <a:rPr lang="en-US" sz="2000" kern="0" spc="-21" dirty="0">
                <a:solidFill>
                  <a:srgbClr val="272525"/>
                </a:solidFill>
                <a:latin typeface="Inter" pitchFamily="34" charset="0"/>
                <a:ea typeface="Inter" pitchFamily="34" charset="-122"/>
                <a:cs typeface="Inter" pitchFamily="34" charset="-120"/>
              </a:rPr>
              <a:t> review identified a wide range of silhouette feature representation techniques used in gait analysis. These techniques can be broadly categorized into different approaches, each with its unique strengths and limitations. Some of the key techniques include:</a:t>
            </a:r>
            <a:endParaRPr lang="en-US" sz="2000" dirty="0"/>
          </a:p>
        </p:txBody>
      </p:sp>
      <p:sp>
        <p:nvSpPr>
          <p:cNvPr id="4" name="Text 2"/>
          <p:cNvSpPr/>
          <p:nvPr/>
        </p:nvSpPr>
        <p:spPr>
          <a:xfrm>
            <a:off x="786646" y="1675525"/>
            <a:ext cx="13271659" cy="214432"/>
          </a:xfrm>
          <a:prstGeom prst="rect">
            <a:avLst/>
          </a:prstGeom>
          <a:noFill/>
          <a:ln/>
        </p:spPr>
        <p:txBody>
          <a:bodyPr wrap="none" lIns="0" tIns="0" rIns="0" bIns="0" rtlCol="0" anchor="t"/>
          <a:lstStyle/>
          <a:p>
            <a:pPr marL="342900" indent="-342900" algn="l">
              <a:lnSpc>
                <a:spcPts val="1650"/>
              </a:lnSpc>
              <a:buSzPct val="100000"/>
              <a:buFont typeface="+mj-lt"/>
              <a:buAutoNum type="arabicPeriod"/>
            </a:pPr>
            <a:r>
              <a:rPr lang="en-US" kern="0" spc="-21" dirty="0">
                <a:solidFill>
                  <a:srgbClr val="272525"/>
                </a:solidFill>
                <a:latin typeface="Inter" pitchFamily="34" charset="0"/>
                <a:ea typeface="Inter" pitchFamily="34" charset="-122"/>
                <a:cs typeface="Inter" pitchFamily="34" charset="-120"/>
              </a:rPr>
              <a:t>Gait Energy Image (GEI)</a:t>
            </a:r>
            <a:endParaRPr lang="en-US" dirty="0"/>
          </a:p>
        </p:txBody>
      </p:sp>
      <p:sp>
        <p:nvSpPr>
          <p:cNvPr id="5" name="Text 3"/>
          <p:cNvSpPr/>
          <p:nvPr/>
        </p:nvSpPr>
        <p:spPr>
          <a:xfrm>
            <a:off x="786645" y="2141617"/>
            <a:ext cx="13271659" cy="214432"/>
          </a:xfrm>
          <a:prstGeom prst="rect">
            <a:avLst/>
          </a:prstGeom>
          <a:noFill/>
          <a:ln/>
        </p:spPr>
        <p:txBody>
          <a:bodyPr wrap="none" lIns="0" tIns="0" rIns="0" bIns="0" rtlCol="0" anchor="t"/>
          <a:lstStyle/>
          <a:p>
            <a:pPr marL="342900" indent="-342900" algn="l">
              <a:lnSpc>
                <a:spcPts val="1650"/>
              </a:lnSpc>
              <a:buSzPct val="100000"/>
              <a:buFont typeface="+mj-lt"/>
              <a:buAutoNum type="arabicPeriod" startAt="2"/>
            </a:pPr>
            <a:r>
              <a:rPr lang="en-US" kern="0" spc="-21" dirty="0">
                <a:solidFill>
                  <a:srgbClr val="272525"/>
                </a:solidFill>
                <a:latin typeface="Inter" pitchFamily="34" charset="0"/>
                <a:ea typeface="Inter" pitchFamily="34" charset="-122"/>
                <a:cs typeface="Inter" pitchFamily="34" charset="-120"/>
              </a:rPr>
              <a:t>Gait Entropy Image (GEnI)</a:t>
            </a:r>
            <a:endParaRPr lang="en-US" dirty="0"/>
          </a:p>
        </p:txBody>
      </p:sp>
      <p:sp>
        <p:nvSpPr>
          <p:cNvPr id="6" name="Text 4"/>
          <p:cNvSpPr/>
          <p:nvPr/>
        </p:nvSpPr>
        <p:spPr>
          <a:xfrm>
            <a:off x="786646" y="2515860"/>
            <a:ext cx="13271659" cy="214432"/>
          </a:xfrm>
          <a:prstGeom prst="rect">
            <a:avLst/>
          </a:prstGeom>
          <a:noFill/>
          <a:ln/>
        </p:spPr>
        <p:txBody>
          <a:bodyPr wrap="none" lIns="0" tIns="0" rIns="0" bIns="0" rtlCol="0" anchor="t"/>
          <a:lstStyle/>
          <a:p>
            <a:pPr marL="342900" indent="-342900" algn="l">
              <a:lnSpc>
                <a:spcPts val="1650"/>
              </a:lnSpc>
              <a:buSzPct val="100000"/>
              <a:buFont typeface="+mj-lt"/>
              <a:buAutoNum type="arabicPeriod" startAt="3"/>
            </a:pPr>
            <a:r>
              <a:rPr lang="en-US" kern="0" spc="-21" dirty="0">
                <a:solidFill>
                  <a:srgbClr val="272525"/>
                </a:solidFill>
                <a:latin typeface="Inter" pitchFamily="34" charset="0"/>
                <a:ea typeface="Inter" pitchFamily="34" charset="-122"/>
                <a:cs typeface="Inter" pitchFamily="34" charset="-120"/>
              </a:rPr>
              <a:t>Gait Flow Image (GFI)</a:t>
            </a:r>
            <a:endParaRPr lang="en-US" dirty="0"/>
          </a:p>
        </p:txBody>
      </p:sp>
      <p:sp>
        <p:nvSpPr>
          <p:cNvPr id="7" name="Text 5"/>
          <p:cNvSpPr/>
          <p:nvPr/>
        </p:nvSpPr>
        <p:spPr>
          <a:xfrm>
            <a:off x="786646" y="2879064"/>
            <a:ext cx="13271659" cy="214432"/>
          </a:xfrm>
          <a:prstGeom prst="rect">
            <a:avLst/>
          </a:prstGeom>
          <a:noFill/>
          <a:ln/>
        </p:spPr>
        <p:txBody>
          <a:bodyPr wrap="none" lIns="0" tIns="0" rIns="0" bIns="0" rtlCol="0" anchor="t"/>
          <a:lstStyle/>
          <a:p>
            <a:pPr marL="342900" indent="-342900" algn="l">
              <a:lnSpc>
                <a:spcPts val="1650"/>
              </a:lnSpc>
              <a:buSzPct val="100000"/>
              <a:buFont typeface="+mj-lt"/>
              <a:buAutoNum type="arabicPeriod" startAt="4"/>
            </a:pPr>
            <a:r>
              <a:rPr lang="en-US" kern="0" spc="-21" dirty="0">
                <a:solidFill>
                  <a:srgbClr val="272525"/>
                </a:solidFill>
                <a:latin typeface="Inter" pitchFamily="34" charset="0"/>
                <a:ea typeface="Inter" pitchFamily="34" charset="-122"/>
                <a:cs typeface="Inter" pitchFamily="34" charset="-120"/>
              </a:rPr>
              <a:t>Motion Silhouette Image (MSI)</a:t>
            </a:r>
            <a:endParaRPr lang="en-US" dirty="0"/>
          </a:p>
        </p:txBody>
      </p:sp>
      <p:sp>
        <p:nvSpPr>
          <p:cNvPr id="8" name="Text 6"/>
          <p:cNvSpPr/>
          <p:nvPr/>
        </p:nvSpPr>
        <p:spPr>
          <a:xfrm>
            <a:off x="786641" y="3287522"/>
            <a:ext cx="13271659" cy="214432"/>
          </a:xfrm>
          <a:prstGeom prst="rect">
            <a:avLst/>
          </a:prstGeom>
          <a:noFill/>
          <a:ln/>
        </p:spPr>
        <p:txBody>
          <a:bodyPr wrap="none" lIns="0" tIns="0" rIns="0" bIns="0" rtlCol="0" anchor="t"/>
          <a:lstStyle/>
          <a:p>
            <a:pPr marL="342900" indent="-342900" algn="l">
              <a:lnSpc>
                <a:spcPts val="1650"/>
              </a:lnSpc>
              <a:buSzPct val="100000"/>
              <a:buFont typeface="+mj-lt"/>
              <a:buAutoNum type="arabicPeriod" startAt="5"/>
            </a:pPr>
            <a:r>
              <a:rPr lang="en-US" kern="0" spc="-21" dirty="0">
                <a:solidFill>
                  <a:srgbClr val="272525"/>
                </a:solidFill>
                <a:latin typeface="Inter" pitchFamily="34" charset="0"/>
                <a:ea typeface="Inter" pitchFamily="34" charset="-122"/>
                <a:cs typeface="Inter" pitchFamily="34" charset="-120"/>
              </a:rPr>
              <a:t>Depth Human Silhouettes</a:t>
            </a:r>
            <a:endParaRPr lang="en-US" dirty="0"/>
          </a:p>
        </p:txBody>
      </p:sp>
      <p:sp>
        <p:nvSpPr>
          <p:cNvPr id="9" name="Text 7"/>
          <p:cNvSpPr/>
          <p:nvPr/>
        </p:nvSpPr>
        <p:spPr>
          <a:xfrm>
            <a:off x="786642" y="3648989"/>
            <a:ext cx="13271659" cy="214432"/>
          </a:xfrm>
          <a:prstGeom prst="rect">
            <a:avLst/>
          </a:prstGeom>
          <a:noFill/>
          <a:ln/>
        </p:spPr>
        <p:txBody>
          <a:bodyPr wrap="none" lIns="0" tIns="0" rIns="0" bIns="0" rtlCol="0" anchor="t"/>
          <a:lstStyle/>
          <a:p>
            <a:pPr marL="342900" indent="-342900" algn="l">
              <a:lnSpc>
                <a:spcPts val="1650"/>
              </a:lnSpc>
              <a:buSzPct val="100000"/>
              <a:buFont typeface="+mj-lt"/>
              <a:buAutoNum type="arabicPeriod" startAt="6"/>
            </a:pPr>
            <a:r>
              <a:rPr lang="en-US" kern="0" spc="-21" dirty="0">
                <a:solidFill>
                  <a:srgbClr val="272525"/>
                </a:solidFill>
                <a:latin typeface="Inter" pitchFamily="34" charset="0"/>
                <a:ea typeface="Inter" pitchFamily="34" charset="-122"/>
                <a:cs typeface="Inter" pitchFamily="34" charset="-120"/>
              </a:rPr>
              <a:t>Gaitset</a:t>
            </a:r>
            <a:endParaRPr lang="en-US" dirty="0"/>
          </a:p>
        </p:txBody>
      </p:sp>
      <p:sp>
        <p:nvSpPr>
          <p:cNvPr id="10" name="Text 8"/>
          <p:cNvSpPr/>
          <p:nvPr/>
        </p:nvSpPr>
        <p:spPr>
          <a:xfrm>
            <a:off x="786646" y="4081326"/>
            <a:ext cx="13271659" cy="214432"/>
          </a:xfrm>
          <a:prstGeom prst="rect">
            <a:avLst/>
          </a:prstGeom>
          <a:noFill/>
          <a:ln/>
        </p:spPr>
        <p:txBody>
          <a:bodyPr wrap="none" lIns="0" tIns="0" rIns="0" bIns="0" rtlCol="0" anchor="t"/>
          <a:lstStyle/>
          <a:p>
            <a:pPr marL="342900" indent="-342900" algn="l">
              <a:lnSpc>
                <a:spcPts val="1650"/>
              </a:lnSpc>
              <a:buSzPct val="100000"/>
              <a:buFont typeface="+mj-lt"/>
              <a:buAutoNum type="arabicPeriod" startAt="7"/>
            </a:pPr>
            <a:r>
              <a:rPr lang="en-US" kern="0" spc="-21" dirty="0">
                <a:solidFill>
                  <a:srgbClr val="272525"/>
                </a:solidFill>
                <a:latin typeface="Inter" pitchFamily="34" charset="0"/>
                <a:ea typeface="Inter" pitchFamily="34" charset="-122"/>
                <a:cs typeface="Inter" pitchFamily="34" charset="-120"/>
              </a:rPr>
              <a:t>Average Silhouette Method</a:t>
            </a:r>
            <a:endParaRPr lang="en-US" dirty="0"/>
          </a:p>
        </p:txBody>
      </p:sp>
      <p:sp>
        <p:nvSpPr>
          <p:cNvPr id="11" name="Text 9"/>
          <p:cNvSpPr/>
          <p:nvPr/>
        </p:nvSpPr>
        <p:spPr>
          <a:xfrm>
            <a:off x="786643" y="4513766"/>
            <a:ext cx="13271659" cy="214432"/>
          </a:xfrm>
          <a:prstGeom prst="rect">
            <a:avLst/>
          </a:prstGeom>
          <a:noFill/>
          <a:ln/>
        </p:spPr>
        <p:txBody>
          <a:bodyPr wrap="none" lIns="0" tIns="0" rIns="0" bIns="0" rtlCol="0" anchor="t"/>
          <a:lstStyle/>
          <a:p>
            <a:pPr marL="342900" indent="-342900" algn="l">
              <a:lnSpc>
                <a:spcPts val="1650"/>
              </a:lnSpc>
              <a:buSzPct val="100000"/>
              <a:buFont typeface="+mj-lt"/>
              <a:buAutoNum type="arabicPeriod" startAt="8"/>
            </a:pPr>
            <a:r>
              <a:rPr lang="en-US" kern="0" spc="-21" dirty="0">
                <a:solidFill>
                  <a:srgbClr val="272525"/>
                </a:solidFill>
                <a:latin typeface="Inter" pitchFamily="34" charset="0"/>
                <a:ea typeface="Inter" pitchFamily="34" charset="-122"/>
                <a:cs typeface="Inter" pitchFamily="34" charset="-120"/>
              </a:rPr>
              <a:t>Binary Silhouettes</a:t>
            </a:r>
            <a:endParaRPr lang="en-US" dirty="0"/>
          </a:p>
        </p:txBody>
      </p:sp>
      <p:sp>
        <p:nvSpPr>
          <p:cNvPr id="12" name="Text 10"/>
          <p:cNvSpPr/>
          <p:nvPr/>
        </p:nvSpPr>
        <p:spPr>
          <a:xfrm>
            <a:off x="786646" y="4901739"/>
            <a:ext cx="13271659" cy="214432"/>
          </a:xfrm>
          <a:prstGeom prst="rect">
            <a:avLst/>
          </a:prstGeom>
          <a:noFill/>
          <a:ln/>
        </p:spPr>
        <p:txBody>
          <a:bodyPr wrap="none" lIns="0" tIns="0" rIns="0" bIns="0" rtlCol="0" anchor="t"/>
          <a:lstStyle/>
          <a:p>
            <a:pPr marL="342900" indent="-342900" algn="l">
              <a:lnSpc>
                <a:spcPts val="1650"/>
              </a:lnSpc>
              <a:buSzPct val="100000"/>
              <a:buFont typeface="+mj-lt"/>
              <a:buAutoNum type="arabicPeriod" startAt="9"/>
            </a:pPr>
            <a:r>
              <a:rPr lang="en-US" kern="0" spc="-21" dirty="0">
                <a:solidFill>
                  <a:srgbClr val="272525"/>
                </a:solidFill>
                <a:latin typeface="Inter" pitchFamily="34" charset="0"/>
                <a:ea typeface="Inter" pitchFamily="34" charset="-122"/>
                <a:cs typeface="Inter" pitchFamily="34" charset="-120"/>
              </a:rPr>
              <a:t>Fuzzy Local Binary Pattern (FLBP)</a:t>
            </a:r>
            <a:endParaRPr lang="en-US" dirty="0"/>
          </a:p>
        </p:txBody>
      </p:sp>
      <p:sp>
        <p:nvSpPr>
          <p:cNvPr id="13" name="Text 11"/>
          <p:cNvSpPr/>
          <p:nvPr/>
        </p:nvSpPr>
        <p:spPr>
          <a:xfrm>
            <a:off x="786646" y="5336728"/>
            <a:ext cx="13271659" cy="214432"/>
          </a:xfrm>
          <a:prstGeom prst="rect">
            <a:avLst/>
          </a:prstGeom>
          <a:noFill/>
          <a:ln/>
        </p:spPr>
        <p:txBody>
          <a:bodyPr wrap="none" lIns="0" tIns="0" rIns="0" bIns="0" rtlCol="0" anchor="t"/>
          <a:lstStyle/>
          <a:p>
            <a:pPr marL="342900" indent="-342900" algn="l">
              <a:lnSpc>
                <a:spcPts val="1650"/>
              </a:lnSpc>
              <a:buSzPct val="100000"/>
              <a:buFont typeface="+mj-lt"/>
              <a:buAutoNum type="arabicPeriod" startAt="10"/>
            </a:pPr>
            <a:r>
              <a:rPr lang="en-US" kern="0" spc="-21" dirty="0">
                <a:solidFill>
                  <a:srgbClr val="272525"/>
                </a:solidFill>
                <a:latin typeface="Inter" pitchFamily="34" charset="0"/>
                <a:ea typeface="Inter" pitchFamily="34" charset="-122"/>
                <a:cs typeface="Inter" pitchFamily="34" charset="-120"/>
              </a:rPr>
              <a:t>Gait Silhouette Energy (GSE)</a:t>
            </a:r>
            <a:endParaRPr lang="en-US" dirty="0"/>
          </a:p>
        </p:txBody>
      </p:sp>
      <p:sp>
        <p:nvSpPr>
          <p:cNvPr id="14" name="Text 12"/>
          <p:cNvSpPr/>
          <p:nvPr/>
        </p:nvSpPr>
        <p:spPr>
          <a:xfrm>
            <a:off x="786646" y="5749869"/>
            <a:ext cx="13271659" cy="214432"/>
          </a:xfrm>
          <a:prstGeom prst="rect">
            <a:avLst/>
          </a:prstGeom>
          <a:noFill/>
          <a:ln/>
        </p:spPr>
        <p:txBody>
          <a:bodyPr wrap="none" lIns="0" tIns="0" rIns="0" bIns="0" rtlCol="0" anchor="t"/>
          <a:lstStyle/>
          <a:p>
            <a:pPr marL="342900" indent="-342900" algn="l">
              <a:lnSpc>
                <a:spcPts val="1650"/>
              </a:lnSpc>
              <a:buSzPct val="100000"/>
              <a:buFont typeface="+mj-lt"/>
              <a:buAutoNum type="arabicPeriod" startAt="11"/>
            </a:pPr>
            <a:r>
              <a:rPr lang="en-US" kern="0" spc="-21" dirty="0">
                <a:solidFill>
                  <a:srgbClr val="272525"/>
                </a:solidFill>
                <a:latin typeface="Inter" pitchFamily="34" charset="0"/>
                <a:ea typeface="Inter" pitchFamily="34" charset="-122"/>
                <a:cs typeface="Inter" pitchFamily="34" charset="-120"/>
              </a:rPr>
              <a:t>GaitGL</a:t>
            </a:r>
            <a:endParaRPr lang="en-US" dirty="0"/>
          </a:p>
        </p:txBody>
      </p:sp>
      <p:sp>
        <p:nvSpPr>
          <p:cNvPr id="15" name="Text 13"/>
          <p:cNvSpPr/>
          <p:nvPr/>
        </p:nvSpPr>
        <p:spPr>
          <a:xfrm>
            <a:off x="786646" y="6184858"/>
            <a:ext cx="13271659" cy="214432"/>
          </a:xfrm>
          <a:prstGeom prst="rect">
            <a:avLst/>
          </a:prstGeom>
          <a:noFill/>
          <a:ln/>
        </p:spPr>
        <p:txBody>
          <a:bodyPr wrap="none" lIns="0" tIns="0" rIns="0" bIns="0" rtlCol="0" anchor="t"/>
          <a:lstStyle/>
          <a:p>
            <a:pPr marL="342900" indent="-342900" algn="l">
              <a:lnSpc>
                <a:spcPts val="1650"/>
              </a:lnSpc>
              <a:buSzPct val="100000"/>
              <a:buFont typeface="+mj-lt"/>
              <a:buAutoNum type="arabicPeriod" startAt="12"/>
            </a:pPr>
            <a:r>
              <a:rPr lang="en-US" kern="0" spc="-21" dirty="0">
                <a:solidFill>
                  <a:srgbClr val="272525"/>
                </a:solidFill>
                <a:latin typeface="Inter" pitchFamily="34" charset="0"/>
                <a:ea typeface="Inter" pitchFamily="34" charset="-122"/>
                <a:cs typeface="Inter" pitchFamily="34" charset="-120"/>
              </a:rPr>
              <a:t>GaitGraph</a:t>
            </a:r>
            <a:endParaRPr lang="en-US" dirty="0"/>
          </a:p>
        </p:txBody>
      </p:sp>
      <p:sp>
        <p:nvSpPr>
          <p:cNvPr id="16" name="Text 14"/>
          <p:cNvSpPr/>
          <p:nvPr/>
        </p:nvSpPr>
        <p:spPr>
          <a:xfrm>
            <a:off x="786646" y="6598199"/>
            <a:ext cx="13271659" cy="214432"/>
          </a:xfrm>
          <a:prstGeom prst="rect">
            <a:avLst/>
          </a:prstGeom>
          <a:noFill/>
          <a:ln/>
        </p:spPr>
        <p:txBody>
          <a:bodyPr wrap="none" lIns="0" tIns="0" rIns="0" bIns="0" rtlCol="0" anchor="t"/>
          <a:lstStyle/>
          <a:p>
            <a:pPr marL="342900" indent="-342900" algn="l">
              <a:lnSpc>
                <a:spcPts val="1650"/>
              </a:lnSpc>
              <a:buSzPct val="100000"/>
              <a:buFont typeface="+mj-lt"/>
              <a:buAutoNum type="arabicPeriod" startAt="13"/>
            </a:pPr>
            <a:r>
              <a:rPr lang="en-US" kern="0" spc="-21" dirty="0">
                <a:solidFill>
                  <a:srgbClr val="272525"/>
                </a:solidFill>
                <a:latin typeface="Inter" pitchFamily="34" charset="0"/>
                <a:ea typeface="Inter" pitchFamily="34" charset="-122"/>
                <a:cs typeface="Inter" pitchFamily="34" charset="-120"/>
              </a:rPr>
              <a:t>GaitPart</a:t>
            </a:r>
            <a:endParaRPr lang="en-US" dirty="0"/>
          </a:p>
        </p:txBody>
      </p:sp>
      <p:sp>
        <p:nvSpPr>
          <p:cNvPr id="17" name="Text 15"/>
          <p:cNvSpPr/>
          <p:nvPr/>
        </p:nvSpPr>
        <p:spPr>
          <a:xfrm>
            <a:off x="786646" y="7008650"/>
            <a:ext cx="13271659" cy="214432"/>
          </a:xfrm>
          <a:prstGeom prst="rect">
            <a:avLst/>
          </a:prstGeom>
          <a:noFill/>
          <a:ln/>
        </p:spPr>
        <p:txBody>
          <a:bodyPr wrap="none" lIns="0" tIns="0" rIns="0" bIns="0" rtlCol="0" anchor="t"/>
          <a:lstStyle/>
          <a:p>
            <a:pPr marL="342900" indent="-342900" algn="l">
              <a:lnSpc>
                <a:spcPts val="1650"/>
              </a:lnSpc>
              <a:buSzPct val="100000"/>
              <a:buFont typeface="+mj-lt"/>
              <a:buAutoNum type="arabicPeriod" startAt="14"/>
            </a:pPr>
            <a:r>
              <a:rPr lang="en-US" kern="0" spc="-21" dirty="0">
                <a:solidFill>
                  <a:srgbClr val="272525"/>
                </a:solidFill>
                <a:latin typeface="Inter" pitchFamily="34" charset="0"/>
                <a:ea typeface="Inter" pitchFamily="34" charset="-122"/>
                <a:cs typeface="Inter" pitchFamily="34" charset="-120"/>
              </a:rPr>
              <a:t>GaitSet</a:t>
            </a:r>
            <a:endParaRPr lang="en-US" dirty="0"/>
          </a:p>
        </p:txBody>
      </p:sp>
      <p:sp>
        <p:nvSpPr>
          <p:cNvPr id="18" name="Text 16"/>
          <p:cNvSpPr/>
          <p:nvPr/>
        </p:nvSpPr>
        <p:spPr>
          <a:xfrm>
            <a:off x="786644" y="7421991"/>
            <a:ext cx="13271659" cy="214432"/>
          </a:xfrm>
          <a:prstGeom prst="rect">
            <a:avLst/>
          </a:prstGeom>
          <a:noFill/>
          <a:ln/>
        </p:spPr>
        <p:txBody>
          <a:bodyPr wrap="none" lIns="0" tIns="0" rIns="0" bIns="0" rtlCol="0" anchor="t"/>
          <a:lstStyle/>
          <a:p>
            <a:pPr marL="342900" indent="-342900" algn="l">
              <a:lnSpc>
                <a:spcPts val="1650"/>
              </a:lnSpc>
              <a:buSzPct val="100000"/>
              <a:buFont typeface="+mj-lt"/>
              <a:buAutoNum type="arabicPeriod" startAt="15"/>
            </a:pPr>
            <a:r>
              <a:rPr lang="en-US" kern="0" spc="-21" dirty="0">
                <a:solidFill>
                  <a:srgbClr val="272525"/>
                </a:solidFill>
                <a:latin typeface="Inter" pitchFamily="34" charset="0"/>
                <a:ea typeface="Inter" pitchFamily="34" charset="-122"/>
                <a:cs typeface="Inter" pitchFamily="34" charset="-120"/>
              </a:rPr>
              <a:t>Geometric Gait Moments (GGM)</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615684"/>
          </a:xfrm>
          <a:prstGeom prst="rect">
            <a:avLst/>
          </a:prstGeom>
        </p:spPr>
      </p:pic>
      <p:pic>
        <p:nvPicPr>
          <p:cNvPr id="3" name="Image 1" descr="preencoded.png"/>
          <p:cNvPicPr>
            <a:picLocks noChangeAspect="1"/>
          </p:cNvPicPr>
          <p:nvPr/>
        </p:nvPicPr>
        <p:blipFill>
          <a:blip r:embed="rId4"/>
          <a:stretch>
            <a:fillRect/>
          </a:stretch>
        </p:blipFill>
        <p:spPr>
          <a:xfrm>
            <a:off x="6035516" y="261461"/>
            <a:ext cx="2559248" cy="2092762"/>
          </a:xfrm>
          <a:prstGeom prst="rect">
            <a:avLst/>
          </a:prstGeom>
        </p:spPr>
      </p:pic>
      <p:sp>
        <p:nvSpPr>
          <p:cNvPr id="4" name="Text 0"/>
          <p:cNvSpPr/>
          <p:nvPr/>
        </p:nvSpPr>
        <p:spPr>
          <a:xfrm>
            <a:off x="732353" y="3997228"/>
            <a:ext cx="5745718" cy="653891"/>
          </a:xfrm>
          <a:prstGeom prst="rect">
            <a:avLst/>
          </a:prstGeom>
          <a:noFill/>
          <a:ln/>
        </p:spPr>
        <p:txBody>
          <a:bodyPr wrap="none" lIns="0" tIns="0" rIns="0" bIns="0" rtlCol="0" anchor="t"/>
          <a:lstStyle/>
          <a:p>
            <a:pPr marL="0" indent="0">
              <a:lnSpc>
                <a:spcPts val="5100"/>
              </a:lnSpc>
              <a:buNone/>
            </a:pPr>
            <a:r>
              <a:rPr lang="en-US" sz="4100" dirty="0">
                <a:latin typeface="Saira" pitchFamily="34" charset="0"/>
                <a:ea typeface="Saira" pitchFamily="34" charset="-122"/>
                <a:cs typeface="Saira" pitchFamily="34" charset="-120"/>
              </a:rPr>
              <a:t>Gait Energy Image (GEI)</a:t>
            </a:r>
            <a:endParaRPr lang="en-US" sz="4100" dirty="0"/>
          </a:p>
        </p:txBody>
      </p:sp>
      <p:sp>
        <p:nvSpPr>
          <p:cNvPr id="5" name="Text 1"/>
          <p:cNvSpPr/>
          <p:nvPr/>
        </p:nvSpPr>
        <p:spPr>
          <a:xfrm>
            <a:off x="732353" y="5075289"/>
            <a:ext cx="13165693" cy="1832873"/>
          </a:xfrm>
          <a:prstGeom prst="rect">
            <a:avLst/>
          </a:prstGeom>
          <a:noFill/>
          <a:ln/>
        </p:spPr>
        <p:txBody>
          <a:bodyPr wrap="square" lIns="0" tIns="0" rIns="0" bIns="0" rtlCol="0" anchor="t"/>
          <a:lstStyle/>
          <a:p>
            <a:pPr marL="0" indent="0">
              <a:lnSpc>
                <a:spcPts val="2600"/>
              </a:lnSpc>
              <a:buNone/>
            </a:pPr>
            <a:r>
              <a:rPr lang="en-US" sz="2400" dirty="0">
                <a:latin typeface="Roboto" pitchFamily="34" charset="0"/>
                <a:ea typeface="Roboto" pitchFamily="34" charset="-122"/>
                <a:cs typeface="Roboto" pitchFamily="34" charset="-120"/>
              </a:rPr>
              <a:t>The Gait Energy Image (GEI) is a fundamental silhouette feature representation technique used in gait analysis. It essentially captures the average appearance of a person walking by stacking multiple images of their gait cycle and calculating the average. This process results in a single image that represents the overall shape and movement of a person's walk.</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615684"/>
          </a:xfrm>
          <a:prstGeom prst="rect">
            <a:avLst/>
          </a:prstGeom>
        </p:spPr>
      </p:pic>
      <p:pic>
        <p:nvPicPr>
          <p:cNvPr id="3" name="Image 1" descr="preencoded.png"/>
          <p:cNvPicPr>
            <a:picLocks noChangeAspect="1"/>
          </p:cNvPicPr>
          <p:nvPr/>
        </p:nvPicPr>
        <p:blipFill>
          <a:blip r:embed="rId4"/>
          <a:stretch>
            <a:fillRect/>
          </a:stretch>
        </p:blipFill>
        <p:spPr>
          <a:xfrm>
            <a:off x="6035516" y="261461"/>
            <a:ext cx="2559248" cy="2092762"/>
          </a:xfrm>
          <a:prstGeom prst="rect">
            <a:avLst/>
          </a:prstGeom>
        </p:spPr>
      </p:pic>
      <p:sp>
        <p:nvSpPr>
          <p:cNvPr id="4" name="Text 0"/>
          <p:cNvSpPr/>
          <p:nvPr/>
        </p:nvSpPr>
        <p:spPr>
          <a:xfrm>
            <a:off x="732352" y="3997228"/>
            <a:ext cx="6342215" cy="653891"/>
          </a:xfrm>
          <a:prstGeom prst="rect">
            <a:avLst/>
          </a:prstGeom>
          <a:noFill/>
          <a:ln/>
        </p:spPr>
        <p:txBody>
          <a:bodyPr wrap="none" lIns="0" tIns="0" rIns="0" bIns="0" rtlCol="0" anchor="t"/>
          <a:lstStyle/>
          <a:p>
            <a:pPr marL="0" indent="0">
              <a:lnSpc>
                <a:spcPts val="5100"/>
              </a:lnSpc>
              <a:buNone/>
            </a:pPr>
            <a:r>
              <a:rPr lang="en-US" sz="4100" dirty="0">
                <a:latin typeface="Saira" pitchFamily="34" charset="0"/>
                <a:ea typeface="Saira" pitchFamily="34" charset="-122"/>
                <a:cs typeface="Saira" pitchFamily="34" charset="-120"/>
              </a:rPr>
              <a:t>Gait Entropy Image (GEnI)</a:t>
            </a:r>
            <a:endParaRPr lang="en-US" sz="4100" dirty="0"/>
          </a:p>
        </p:txBody>
      </p:sp>
      <p:sp>
        <p:nvSpPr>
          <p:cNvPr id="5" name="Text 1"/>
          <p:cNvSpPr/>
          <p:nvPr/>
        </p:nvSpPr>
        <p:spPr>
          <a:xfrm>
            <a:off x="732353" y="5075289"/>
            <a:ext cx="13165693" cy="1832873"/>
          </a:xfrm>
          <a:prstGeom prst="rect">
            <a:avLst/>
          </a:prstGeom>
          <a:noFill/>
          <a:ln/>
        </p:spPr>
        <p:txBody>
          <a:bodyPr wrap="square" lIns="0" tIns="0" rIns="0" bIns="0" rtlCol="0" anchor="t"/>
          <a:lstStyle/>
          <a:p>
            <a:pPr>
              <a:lnSpc>
                <a:spcPct val="107000"/>
              </a:lnSpc>
              <a:spcAft>
                <a:spcPts val="800"/>
              </a:spcAft>
            </a:pPr>
            <a:r>
              <a:rPr lang="en-US" sz="2400" dirty="0">
                <a:effectLst/>
                <a:latin typeface="Times New Roman" panose="02020603050405020304" pitchFamily="18" charset="0"/>
                <a:ea typeface="Aptos" panose="020B0004020202020204" pitchFamily="34" charset="0"/>
                <a:cs typeface="Times New Roman" panose="02020603050405020304" pitchFamily="18" charset="0"/>
              </a:rPr>
              <a:t>Gait Entropy Image (GEnI) is a model-free feature extraction technique used in human gait recognition, a biometric technology that identifies individuals based on their unique walking patterns. GEnI focuses on capturing the dynamic components of gait by calculating the entropy for each pixel within gait silhouettes over a complete gait cycle.</a:t>
            </a:r>
            <a:endParaRPr lang="en-US" sz="24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0398867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615684"/>
          </a:xfrm>
          <a:prstGeom prst="rect">
            <a:avLst/>
          </a:prstGeom>
        </p:spPr>
      </p:pic>
      <p:pic>
        <p:nvPicPr>
          <p:cNvPr id="3" name="Image 1" descr="preencoded.png"/>
          <p:cNvPicPr>
            <a:picLocks noChangeAspect="1"/>
          </p:cNvPicPr>
          <p:nvPr/>
        </p:nvPicPr>
        <p:blipFill>
          <a:blip r:embed="rId4"/>
          <a:stretch>
            <a:fillRect/>
          </a:stretch>
        </p:blipFill>
        <p:spPr>
          <a:xfrm>
            <a:off x="6035516" y="261461"/>
            <a:ext cx="2559248" cy="2092762"/>
          </a:xfrm>
          <a:prstGeom prst="rect">
            <a:avLst/>
          </a:prstGeom>
        </p:spPr>
      </p:pic>
      <p:sp>
        <p:nvSpPr>
          <p:cNvPr id="4" name="Text 0"/>
          <p:cNvSpPr/>
          <p:nvPr/>
        </p:nvSpPr>
        <p:spPr>
          <a:xfrm>
            <a:off x="732352" y="3997228"/>
            <a:ext cx="6342215" cy="653891"/>
          </a:xfrm>
          <a:prstGeom prst="rect">
            <a:avLst/>
          </a:prstGeom>
          <a:noFill/>
          <a:ln/>
        </p:spPr>
        <p:txBody>
          <a:bodyPr wrap="none" lIns="0" tIns="0" rIns="0" bIns="0" rtlCol="0" anchor="t"/>
          <a:lstStyle/>
          <a:p>
            <a:pPr marL="0" indent="0">
              <a:lnSpc>
                <a:spcPts val="5100"/>
              </a:lnSpc>
              <a:buNone/>
            </a:pPr>
            <a:r>
              <a:rPr lang="en-US" sz="4100" dirty="0">
                <a:latin typeface="Saira" pitchFamily="34" charset="0"/>
                <a:ea typeface="Saira" pitchFamily="34" charset="-122"/>
                <a:cs typeface="Saira" pitchFamily="34" charset="-120"/>
              </a:rPr>
              <a:t>Gait Flow Image(GFI)</a:t>
            </a:r>
            <a:endParaRPr lang="en-US" sz="4100" dirty="0"/>
          </a:p>
        </p:txBody>
      </p:sp>
      <p:sp>
        <p:nvSpPr>
          <p:cNvPr id="5" name="Text 1"/>
          <p:cNvSpPr/>
          <p:nvPr/>
        </p:nvSpPr>
        <p:spPr>
          <a:xfrm>
            <a:off x="732353" y="4651119"/>
            <a:ext cx="13165693" cy="2892850"/>
          </a:xfrm>
          <a:prstGeom prst="rect">
            <a:avLst/>
          </a:prstGeom>
          <a:noFill/>
          <a:ln/>
        </p:spPr>
        <p:txBody>
          <a:bodyPr wrap="square" lIns="0" tIns="0" rIns="0" bIns="0" rtlCol="0" anchor="t"/>
          <a:lstStyle/>
          <a:p>
            <a:pPr>
              <a:lnSpc>
                <a:spcPct val="107000"/>
              </a:lnSpc>
              <a:spcAft>
                <a:spcPts val="800"/>
              </a:spcAft>
            </a:pPr>
            <a:r>
              <a:rPr lang="en-US" sz="2400" dirty="0"/>
              <a:t>Gait Flow Image (GFI) is an advanced feature extraction technique used in gait recognition that captures dynamic motion information through optical flow features extracted from binary silhouette images over a gait cycle. It is designed to reduce data size while retaining distinctive information about an individual's walking pattern, projecting gait features onto four vectors to present motion information from different perspectives. While GFI is effective in controlled environments, it faces challenges when dealing with variations in walking speed and camera angles, suggesting a need for further optimization in diverse scenarios.</a:t>
            </a:r>
            <a:endParaRPr lang="en-US" sz="24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41323294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0">
            <a:extLst>
              <a:ext uri="{FF2B5EF4-FFF2-40B4-BE49-F238E27FC236}">
                <a16:creationId xmlns:a16="http://schemas.microsoft.com/office/drawing/2014/main" id="{C5E21C2B-32B7-5AE8-464D-C836FA8B9631}"/>
              </a:ext>
            </a:extLst>
          </p:cNvPr>
          <p:cNvSpPr/>
          <p:nvPr/>
        </p:nvSpPr>
        <p:spPr>
          <a:xfrm>
            <a:off x="738663" y="382603"/>
            <a:ext cx="5612709" cy="659606"/>
          </a:xfrm>
          <a:prstGeom prst="rect">
            <a:avLst/>
          </a:prstGeom>
          <a:noFill/>
          <a:ln/>
        </p:spPr>
        <p:txBody>
          <a:bodyPr wrap="none" lIns="0" tIns="0" rIns="0" bIns="0" rtlCol="0" anchor="t"/>
          <a:lstStyle/>
          <a:p>
            <a:pPr marL="0" indent="0">
              <a:lnSpc>
                <a:spcPts val="5150"/>
              </a:lnSpc>
              <a:buNone/>
            </a:pPr>
            <a:r>
              <a:rPr lang="en-US" sz="4150" b="1" kern="0" spc="-125" dirty="0">
                <a:solidFill>
                  <a:srgbClr val="000000"/>
                </a:solidFill>
                <a:latin typeface="Inter" pitchFamily="34" charset="0"/>
                <a:ea typeface="Inter" pitchFamily="34" charset="-122"/>
                <a:cs typeface="Inter" pitchFamily="34" charset="-120"/>
              </a:rPr>
              <a:t>STRENGTHS &amp; WEAKNESS</a:t>
            </a:r>
            <a:endParaRPr lang="en-US" sz="4150" dirty="0"/>
          </a:p>
        </p:txBody>
      </p:sp>
      <p:graphicFrame>
        <p:nvGraphicFramePr>
          <p:cNvPr id="8" name="Table 7">
            <a:extLst>
              <a:ext uri="{FF2B5EF4-FFF2-40B4-BE49-F238E27FC236}">
                <a16:creationId xmlns:a16="http://schemas.microsoft.com/office/drawing/2014/main" id="{8487E1F4-F12E-E32B-0035-A21E202CF175}"/>
              </a:ext>
            </a:extLst>
          </p:cNvPr>
          <p:cNvGraphicFramePr>
            <a:graphicFrameLocks noGrp="1"/>
          </p:cNvGraphicFramePr>
          <p:nvPr>
            <p:extLst>
              <p:ext uri="{D42A27DB-BD31-4B8C-83A1-F6EECF244321}">
                <p14:modId xmlns:p14="http://schemas.microsoft.com/office/powerpoint/2010/main" val="1217423797"/>
              </p:ext>
            </p:extLst>
          </p:nvPr>
        </p:nvGraphicFramePr>
        <p:xfrm>
          <a:off x="519586" y="1077949"/>
          <a:ext cx="13473139" cy="6769047"/>
        </p:xfrm>
        <a:graphic>
          <a:graphicData uri="http://schemas.openxmlformats.org/drawingml/2006/table">
            <a:tbl>
              <a:tblPr firstRow="1" firstCol="1" bandRow="1">
                <a:tableStyleId>{5C22544A-7EE6-4342-B048-85BDC9FD1C3A}</a:tableStyleId>
              </a:tblPr>
              <a:tblGrid>
                <a:gridCol w="2102476">
                  <a:extLst>
                    <a:ext uri="{9D8B030D-6E8A-4147-A177-3AD203B41FA5}">
                      <a16:colId xmlns:a16="http://schemas.microsoft.com/office/drawing/2014/main" val="3407810321"/>
                    </a:ext>
                  </a:extLst>
                </a:gridCol>
                <a:gridCol w="2485045">
                  <a:extLst>
                    <a:ext uri="{9D8B030D-6E8A-4147-A177-3AD203B41FA5}">
                      <a16:colId xmlns:a16="http://schemas.microsoft.com/office/drawing/2014/main" val="3407891247"/>
                    </a:ext>
                  </a:extLst>
                </a:gridCol>
                <a:gridCol w="2809953">
                  <a:extLst>
                    <a:ext uri="{9D8B030D-6E8A-4147-A177-3AD203B41FA5}">
                      <a16:colId xmlns:a16="http://schemas.microsoft.com/office/drawing/2014/main" val="3502482860"/>
                    </a:ext>
                  </a:extLst>
                </a:gridCol>
                <a:gridCol w="2488373">
                  <a:extLst>
                    <a:ext uri="{9D8B030D-6E8A-4147-A177-3AD203B41FA5}">
                      <a16:colId xmlns:a16="http://schemas.microsoft.com/office/drawing/2014/main" val="3367400205"/>
                    </a:ext>
                  </a:extLst>
                </a:gridCol>
                <a:gridCol w="3587292">
                  <a:extLst>
                    <a:ext uri="{9D8B030D-6E8A-4147-A177-3AD203B41FA5}">
                      <a16:colId xmlns:a16="http://schemas.microsoft.com/office/drawing/2014/main" val="3485028923"/>
                    </a:ext>
                  </a:extLst>
                </a:gridCol>
              </a:tblGrid>
              <a:tr h="240320">
                <a:tc>
                  <a:txBody>
                    <a:bodyPr/>
                    <a:lstStyle/>
                    <a:p>
                      <a:pPr algn="ctr">
                        <a:lnSpc>
                          <a:spcPct val="107000"/>
                        </a:lnSpc>
                        <a:spcAft>
                          <a:spcPts val="800"/>
                        </a:spcAft>
                      </a:pPr>
                      <a:r>
                        <a:rPr lang="en-US" sz="1400" kern="100">
                          <a:effectLst/>
                        </a:rPr>
                        <a:t> </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60317" marR="60317" marT="0" marB="0"/>
                </a:tc>
                <a:tc>
                  <a:txBody>
                    <a:bodyPr/>
                    <a:lstStyle/>
                    <a:p>
                      <a:pPr indent="457200">
                        <a:lnSpc>
                          <a:spcPct val="107000"/>
                        </a:lnSpc>
                        <a:spcAft>
                          <a:spcPts val="800"/>
                        </a:spcAft>
                      </a:pPr>
                      <a:r>
                        <a:rPr lang="en-US" sz="1400" kern="100">
                          <a:effectLst/>
                        </a:rPr>
                        <a:t>ACCURACY</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60317" marR="60317" marT="0" marB="0"/>
                </a:tc>
                <a:tc>
                  <a:txBody>
                    <a:bodyPr/>
                    <a:lstStyle/>
                    <a:p>
                      <a:pPr>
                        <a:lnSpc>
                          <a:spcPct val="107000"/>
                        </a:lnSpc>
                        <a:spcAft>
                          <a:spcPts val="800"/>
                        </a:spcAft>
                      </a:pPr>
                      <a:r>
                        <a:rPr lang="en-US" sz="1400" kern="100">
                          <a:effectLst/>
                        </a:rPr>
                        <a:t>COMPUTATIONAL COST</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60317" marR="60317" marT="0" marB="0"/>
                </a:tc>
                <a:tc>
                  <a:txBody>
                    <a:bodyPr/>
                    <a:lstStyle/>
                    <a:p>
                      <a:pPr>
                        <a:lnSpc>
                          <a:spcPct val="107000"/>
                        </a:lnSpc>
                        <a:spcAft>
                          <a:spcPts val="800"/>
                        </a:spcAft>
                      </a:pPr>
                      <a:r>
                        <a:rPr lang="en-US" sz="1400" kern="100">
                          <a:effectLst/>
                        </a:rPr>
                        <a:t>ROBUSTNESS</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60317" marR="60317" marT="0" marB="0"/>
                </a:tc>
                <a:tc>
                  <a:txBody>
                    <a:bodyPr/>
                    <a:lstStyle/>
                    <a:p>
                      <a:pPr>
                        <a:lnSpc>
                          <a:spcPct val="107000"/>
                        </a:lnSpc>
                        <a:spcAft>
                          <a:spcPts val="800"/>
                        </a:spcAft>
                      </a:pPr>
                      <a:r>
                        <a:rPr lang="en-US" sz="1400" kern="100">
                          <a:effectLst/>
                        </a:rPr>
                        <a:t>VIEWPOINT DEPENDECY</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60317" marR="60317" marT="0" marB="0"/>
                </a:tc>
                <a:extLst>
                  <a:ext uri="{0D108BD9-81ED-4DB2-BD59-A6C34878D82A}">
                    <a16:rowId xmlns:a16="http://schemas.microsoft.com/office/drawing/2014/main" val="185342816"/>
                  </a:ext>
                </a:extLst>
              </a:tr>
              <a:tr h="240320">
                <a:tc>
                  <a:txBody>
                    <a:bodyPr/>
                    <a:lstStyle/>
                    <a:p>
                      <a:pPr algn="ctr">
                        <a:lnSpc>
                          <a:spcPct val="107000"/>
                        </a:lnSpc>
                        <a:spcAft>
                          <a:spcPts val="800"/>
                        </a:spcAft>
                      </a:pPr>
                      <a:r>
                        <a:rPr lang="en-US" sz="1400" kern="100">
                          <a:effectLst/>
                        </a:rPr>
                        <a:t> </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60317" marR="60317" marT="0" marB="0"/>
                </a:tc>
                <a:tc>
                  <a:txBody>
                    <a:bodyPr/>
                    <a:lstStyle/>
                    <a:p>
                      <a:pPr algn="ctr">
                        <a:lnSpc>
                          <a:spcPct val="107000"/>
                        </a:lnSpc>
                        <a:spcAft>
                          <a:spcPts val="800"/>
                        </a:spcAft>
                      </a:pPr>
                      <a:r>
                        <a:rPr lang="en-US" sz="1400" kern="100">
                          <a:effectLst/>
                        </a:rPr>
                        <a:t> </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60317" marR="60317" marT="0" marB="0"/>
                </a:tc>
                <a:tc>
                  <a:txBody>
                    <a:bodyPr/>
                    <a:lstStyle/>
                    <a:p>
                      <a:pPr algn="ctr">
                        <a:lnSpc>
                          <a:spcPct val="107000"/>
                        </a:lnSpc>
                        <a:spcAft>
                          <a:spcPts val="800"/>
                        </a:spcAft>
                      </a:pPr>
                      <a:r>
                        <a:rPr lang="en-US" sz="1400" kern="100">
                          <a:effectLst/>
                        </a:rPr>
                        <a:t> </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60317" marR="60317" marT="0" marB="0"/>
                </a:tc>
                <a:tc>
                  <a:txBody>
                    <a:bodyPr/>
                    <a:lstStyle/>
                    <a:p>
                      <a:pPr algn="ctr">
                        <a:lnSpc>
                          <a:spcPct val="107000"/>
                        </a:lnSpc>
                        <a:spcAft>
                          <a:spcPts val="800"/>
                        </a:spcAft>
                      </a:pPr>
                      <a:r>
                        <a:rPr lang="en-US" sz="1400" kern="100">
                          <a:effectLst/>
                        </a:rPr>
                        <a:t> </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60317" marR="60317" marT="0" marB="0"/>
                </a:tc>
                <a:tc>
                  <a:txBody>
                    <a:bodyPr/>
                    <a:lstStyle/>
                    <a:p>
                      <a:pPr algn="ctr">
                        <a:lnSpc>
                          <a:spcPct val="107000"/>
                        </a:lnSpc>
                        <a:spcAft>
                          <a:spcPts val="800"/>
                        </a:spcAft>
                      </a:pPr>
                      <a:r>
                        <a:rPr lang="en-US" sz="1400" kern="100">
                          <a:effectLst/>
                        </a:rPr>
                        <a:t> </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60317" marR="60317" marT="0" marB="0"/>
                </a:tc>
                <a:extLst>
                  <a:ext uri="{0D108BD9-81ED-4DB2-BD59-A6C34878D82A}">
                    <a16:rowId xmlns:a16="http://schemas.microsoft.com/office/drawing/2014/main" val="1161025481"/>
                  </a:ext>
                </a:extLst>
              </a:tr>
              <a:tr h="1514778">
                <a:tc>
                  <a:txBody>
                    <a:bodyPr/>
                    <a:lstStyle/>
                    <a:p>
                      <a:pPr algn="ctr">
                        <a:lnSpc>
                          <a:spcPct val="107000"/>
                        </a:lnSpc>
                        <a:spcAft>
                          <a:spcPts val="800"/>
                        </a:spcAft>
                      </a:pPr>
                      <a:r>
                        <a:rPr lang="en-US" sz="1400" kern="100">
                          <a:effectLst/>
                        </a:rPr>
                        <a:t>GAIT FLOW IMAGE</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60317" marR="60317" marT="0" marB="0"/>
                </a:tc>
                <a:tc>
                  <a:txBody>
                    <a:bodyPr/>
                    <a:lstStyle/>
                    <a:p>
                      <a:pPr algn="ctr">
                        <a:lnSpc>
                          <a:spcPct val="107000"/>
                        </a:lnSpc>
                        <a:spcAft>
                          <a:spcPts val="800"/>
                        </a:spcAft>
                      </a:pPr>
                      <a:r>
                        <a:rPr lang="en-US" sz="1400" kern="100" dirty="0">
                          <a:effectLst/>
                        </a:rPr>
                        <a:t>MODERATELY ACCURATE </a:t>
                      </a:r>
                    </a:p>
                    <a:p>
                      <a:pPr algn="ctr">
                        <a:lnSpc>
                          <a:spcPct val="107000"/>
                        </a:lnSpc>
                        <a:spcAft>
                          <a:spcPts val="800"/>
                        </a:spcAft>
                      </a:pPr>
                      <a:r>
                        <a:rPr lang="en-US" sz="1400" kern="100" dirty="0">
                          <a:effectLst/>
                        </a:rPr>
                        <a:t>(Deng et al., 2018), (Xu et al., 2023), (Luo et al., 2016), (Narula &amp; Srivastava 2015), (Narula &amp; Srivastava 2016)</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0317" marR="60317" marT="0" marB="0"/>
                </a:tc>
                <a:tc>
                  <a:txBody>
                    <a:bodyPr/>
                    <a:lstStyle/>
                    <a:p>
                      <a:pPr algn="ctr">
                        <a:lnSpc>
                          <a:spcPct val="107000"/>
                        </a:lnSpc>
                        <a:spcAft>
                          <a:spcPts val="800"/>
                        </a:spcAft>
                      </a:pPr>
                      <a:r>
                        <a:rPr lang="en-US" sz="1400" kern="100" dirty="0">
                          <a:effectLst/>
                        </a:rPr>
                        <a:t>HIGH COMPUTATIONAL COST</a:t>
                      </a:r>
                    </a:p>
                    <a:p>
                      <a:pPr algn="ctr">
                        <a:lnSpc>
                          <a:spcPct val="107000"/>
                        </a:lnSpc>
                        <a:spcAft>
                          <a:spcPts val="800"/>
                        </a:spcAft>
                      </a:pPr>
                      <a:r>
                        <a:rPr lang="en-US" sz="1400" kern="100" dirty="0">
                          <a:effectLst/>
                        </a:rPr>
                        <a:t>(Xu et al., 2023), (Luo et al., 2016), (Narula &amp; Srivastava 2015), (Narula &amp; Srivastava 2016)</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0317" marR="60317" marT="0" marB="0"/>
                </a:tc>
                <a:tc>
                  <a:txBody>
                    <a:bodyPr/>
                    <a:lstStyle/>
                    <a:p>
                      <a:pPr algn="ctr">
                        <a:lnSpc>
                          <a:spcPct val="107000"/>
                        </a:lnSpc>
                        <a:spcAft>
                          <a:spcPts val="800"/>
                        </a:spcAft>
                      </a:pPr>
                      <a:r>
                        <a:rPr lang="en-US" sz="1400" kern="100" dirty="0">
                          <a:effectLst/>
                        </a:rPr>
                        <a:t>LESS ROBUST</a:t>
                      </a:r>
                    </a:p>
                    <a:p>
                      <a:pPr algn="ctr">
                        <a:lnSpc>
                          <a:spcPct val="107000"/>
                        </a:lnSpc>
                        <a:spcAft>
                          <a:spcPts val="800"/>
                        </a:spcAft>
                      </a:pPr>
                      <a:r>
                        <a:rPr lang="en-US" sz="1400" kern="100" dirty="0">
                          <a:effectLst/>
                        </a:rPr>
                        <a:t>(Deng et al., 2018), (Xu et al., 2023), (Narula &amp; Srivastava 2016)</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0317" marR="60317" marT="0" marB="0"/>
                </a:tc>
                <a:tc>
                  <a:txBody>
                    <a:bodyPr/>
                    <a:lstStyle/>
                    <a:p>
                      <a:pPr algn="ctr">
                        <a:lnSpc>
                          <a:spcPct val="107000"/>
                        </a:lnSpc>
                        <a:spcAft>
                          <a:spcPts val="800"/>
                        </a:spcAft>
                      </a:pPr>
                      <a:r>
                        <a:rPr lang="en-US" sz="1400" kern="100">
                          <a:effectLst/>
                        </a:rPr>
                        <a:t>HIGHLY DEPENDENT</a:t>
                      </a:r>
                    </a:p>
                    <a:p>
                      <a:pPr algn="ctr">
                        <a:lnSpc>
                          <a:spcPct val="107000"/>
                        </a:lnSpc>
                        <a:spcAft>
                          <a:spcPts val="800"/>
                        </a:spcAft>
                      </a:pPr>
                      <a:r>
                        <a:rPr lang="en-US" sz="1400" kern="100">
                          <a:effectLst/>
                        </a:rPr>
                        <a:t>(Luo et al., 2016), (Narula &amp; Srivastava 2015), (Narula &amp; Srivastava 2016)</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60317" marR="60317" marT="0" marB="0"/>
                </a:tc>
                <a:extLst>
                  <a:ext uri="{0D108BD9-81ED-4DB2-BD59-A6C34878D82A}">
                    <a16:rowId xmlns:a16="http://schemas.microsoft.com/office/drawing/2014/main" val="635336821"/>
                  </a:ext>
                </a:extLst>
              </a:tr>
              <a:tr h="3525892">
                <a:tc>
                  <a:txBody>
                    <a:bodyPr/>
                    <a:lstStyle/>
                    <a:p>
                      <a:pPr algn="ctr">
                        <a:lnSpc>
                          <a:spcPct val="107000"/>
                        </a:lnSpc>
                        <a:spcAft>
                          <a:spcPts val="800"/>
                        </a:spcAft>
                      </a:pPr>
                      <a:r>
                        <a:rPr lang="en-US" sz="1400" kern="100">
                          <a:effectLst/>
                        </a:rPr>
                        <a:t>GAIT ENERGY IMAGE</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60317" marR="60317" marT="0" marB="0"/>
                </a:tc>
                <a:tc>
                  <a:txBody>
                    <a:bodyPr/>
                    <a:lstStyle/>
                    <a:p>
                      <a:pPr algn="ctr">
                        <a:lnSpc>
                          <a:spcPct val="107000"/>
                        </a:lnSpc>
                        <a:spcAft>
                          <a:spcPts val="800"/>
                        </a:spcAft>
                      </a:pPr>
                      <a:r>
                        <a:rPr lang="en-US" sz="1400" kern="100" dirty="0">
                          <a:effectLst/>
                        </a:rPr>
                        <a:t>MODERATELY ACCURATE</a:t>
                      </a:r>
                    </a:p>
                    <a:p>
                      <a:pPr algn="ctr">
                        <a:lnSpc>
                          <a:spcPct val="107000"/>
                        </a:lnSpc>
                        <a:spcAft>
                          <a:spcPts val="800"/>
                        </a:spcAft>
                      </a:pPr>
                      <a:r>
                        <a:rPr lang="en-US" sz="1400" kern="100" dirty="0">
                          <a:effectLst/>
                        </a:rPr>
                        <a:t>(Youssef et al., 2023), (Chtourou et al., 2018), (Wang et al., 2023), (Henderson et al., 2023), (Deng &amp; Wang, 2018), (Zeng et al., 2023), (Tieu et al., 2019), (Hirose et al., 2022), (Kitchat et al., 2019), (Bei et al., 2019), (Zhang et al., 2023),  (Junaid et al., 2022), (Inui et al., 2020)</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0317" marR="60317" marT="0" marB="0"/>
                </a:tc>
                <a:tc>
                  <a:txBody>
                    <a:bodyPr/>
                    <a:lstStyle/>
                    <a:p>
                      <a:pPr algn="ctr">
                        <a:lnSpc>
                          <a:spcPct val="107000"/>
                        </a:lnSpc>
                        <a:spcAft>
                          <a:spcPts val="800"/>
                        </a:spcAft>
                      </a:pPr>
                      <a:r>
                        <a:rPr lang="en-US" sz="1400" kern="100" dirty="0">
                          <a:effectLst/>
                        </a:rPr>
                        <a:t>LOW COMPUTATIONAL COST</a:t>
                      </a:r>
                    </a:p>
                    <a:p>
                      <a:pPr algn="ctr">
                        <a:lnSpc>
                          <a:spcPct val="107000"/>
                        </a:lnSpc>
                        <a:spcAft>
                          <a:spcPts val="800"/>
                        </a:spcAft>
                      </a:pPr>
                      <a:r>
                        <a:rPr lang="en-US" sz="1400" kern="100" dirty="0">
                          <a:effectLst/>
                        </a:rPr>
                        <a:t>(Chtourou et al., 2018), (Aljazaerly et al., 2023), (Hirose et al., 2019), (Hirose et al., 2022), (Hasan  et al., 2022)</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0317" marR="60317" marT="0" marB="0"/>
                </a:tc>
                <a:tc>
                  <a:txBody>
                    <a:bodyPr/>
                    <a:lstStyle/>
                    <a:p>
                      <a:pPr algn="ctr">
                        <a:lnSpc>
                          <a:spcPct val="107000"/>
                        </a:lnSpc>
                        <a:spcAft>
                          <a:spcPts val="800"/>
                        </a:spcAft>
                      </a:pPr>
                      <a:r>
                        <a:rPr lang="en-US" sz="1400" kern="100" dirty="0">
                          <a:effectLst/>
                        </a:rPr>
                        <a:t>MODERATELY ROBUST </a:t>
                      </a:r>
                    </a:p>
                    <a:p>
                      <a:pPr algn="ctr">
                        <a:lnSpc>
                          <a:spcPct val="107000"/>
                        </a:lnSpc>
                        <a:spcAft>
                          <a:spcPts val="800"/>
                        </a:spcAft>
                      </a:pPr>
                      <a:r>
                        <a:rPr lang="en-US" sz="1400" kern="100" dirty="0">
                          <a:effectLst/>
                        </a:rPr>
                        <a:t>(</a:t>
                      </a:r>
                      <a:r>
                        <a:rPr lang="en-US" sz="1400" kern="100" dirty="0" err="1">
                          <a:effectLst/>
                        </a:rPr>
                        <a:t>Chtourou</a:t>
                      </a:r>
                      <a:r>
                        <a:rPr lang="en-US" sz="1400" kern="100" dirty="0">
                          <a:effectLst/>
                        </a:rPr>
                        <a:t> et al., 2018), (</a:t>
                      </a:r>
                      <a:r>
                        <a:rPr lang="en-US" sz="1400" kern="100" dirty="0" err="1">
                          <a:effectLst/>
                        </a:rPr>
                        <a:t>Aljazaerly</a:t>
                      </a:r>
                      <a:r>
                        <a:rPr lang="en-US" sz="1400" kern="100" dirty="0">
                          <a:effectLst/>
                        </a:rPr>
                        <a:t> et al., 2023), (Henderson et al., 2023), (Zeng et al., 2023)</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0317" marR="60317" marT="0" marB="0"/>
                </a:tc>
                <a:tc>
                  <a:txBody>
                    <a:bodyPr/>
                    <a:lstStyle/>
                    <a:p>
                      <a:pPr algn="ctr">
                        <a:lnSpc>
                          <a:spcPct val="107000"/>
                        </a:lnSpc>
                        <a:spcAft>
                          <a:spcPts val="800"/>
                        </a:spcAft>
                      </a:pPr>
                      <a:r>
                        <a:rPr lang="en-US" sz="1400" kern="100" dirty="0">
                          <a:effectLst/>
                        </a:rPr>
                        <a:t>HIGHLY DEPENDENT</a:t>
                      </a:r>
                    </a:p>
                    <a:p>
                      <a:pPr algn="ctr">
                        <a:lnSpc>
                          <a:spcPct val="107000"/>
                        </a:lnSpc>
                        <a:spcAft>
                          <a:spcPts val="800"/>
                        </a:spcAft>
                      </a:pPr>
                      <a:r>
                        <a:rPr lang="en-US" sz="1400" kern="100" dirty="0">
                          <a:effectLst/>
                        </a:rPr>
                        <a:t>(Tieu et al., 2019)</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0317" marR="60317" marT="0" marB="0"/>
                </a:tc>
                <a:extLst>
                  <a:ext uri="{0D108BD9-81ED-4DB2-BD59-A6C34878D82A}">
                    <a16:rowId xmlns:a16="http://schemas.microsoft.com/office/drawing/2014/main" val="2098719137"/>
                  </a:ext>
                </a:extLst>
              </a:tr>
              <a:tr h="1247737">
                <a:tc>
                  <a:txBody>
                    <a:bodyPr/>
                    <a:lstStyle/>
                    <a:p>
                      <a:pPr algn="ctr">
                        <a:lnSpc>
                          <a:spcPct val="107000"/>
                        </a:lnSpc>
                        <a:spcAft>
                          <a:spcPts val="800"/>
                        </a:spcAft>
                      </a:pPr>
                      <a:r>
                        <a:rPr lang="en-US" sz="1400" kern="100">
                          <a:effectLst/>
                        </a:rPr>
                        <a:t>GAIT ENTROPY IMAGE</a:t>
                      </a:r>
                      <a:endParaRPr lang="en-US" sz="1400" kern="100">
                        <a:effectLst/>
                        <a:latin typeface="Aptos" panose="020B0004020202020204" pitchFamily="34" charset="0"/>
                        <a:ea typeface="Aptos" panose="020B0004020202020204" pitchFamily="34" charset="0"/>
                        <a:cs typeface="Times New Roman" panose="02020603050405020304" pitchFamily="18" charset="0"/>
                      </a:endParaRPr>
                    </a:p>
                  </a:txBody>
                  <a:tcPr marL="60317" marR="60317" marT="0" marB="0"/>
                </a:tc>
                <a:tc>
                  <a:txBody>
                    <a:bodyPr/>
                    <a:lstStyle/>
                    <a:p>
                      <a:pPr algn="ctr">
                        <a:lnSpc>
                          <a:spcPct val="107000"/>
                        </a:lnSpc>
                        <a:spcAft>
                          <a:spcPts val="800"/>
                        </a:spcAft>
                      </a:pPr>
                      <a:r>
                        <a:rPr lang="en-US" sz="1400" kern="100" dirty="0">
                          <a:effectLst/>
                        </a:rPr>
                        <a:t>HIGHLY ACCURATE</a:t>
                      </a:r>
                    </a:p>
                    <a:p>
                      <a:pPr algn="ctr">
                        <a:lnSpc>
                          <a:spcPct val="107000"/>
                        </a:lnSpc>
                        <a:spcAft>
                          <a:spcPts val="800"/>
                        </a:spcAft>
                      </a:pPr>
                      <a:r>
                        <a:rPr lang="en-US" sz="1400" kern="100" dirty="0">
                          <a:effectLst/>
                        </a:rPr>
                        <a:t>(Li et al., 2017), (Hirose et al., 2019)</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0317" marR="60317" marT="0" marB="0"/>
                </a:tc>
                <a:tc>
                  <a:txBody>
                    <a:bodyPr/>
                    <a:lstStyle/>
                    <a:p>
                      <a:pPr algn="ctr">
                        <a:lnSpc>
                          <a:spcPct val="107000"/>
                        </a:lnSpc>
                        <a:spcAft>
                          <a:spcPts val="800"/>
                        </a:spcAft>
                      </a:pPr>
                      <a:r>
                        <a:rPr lang="en-US" sz="1400" kern="100" dirty="0">
                          <a:effectLst/>
                        </a:rPr>
                        <a:t>MODERATE  COMPUTATIONAL COST</a:t>
                      </a:r>
                    </a:p>
                    <a:p>
                      <a:pPr algn="ctr">
                        <a:lnSpc>
                          <a:spcPct val="107000"/>
                        </a:lnSpc>
                        <a:spcAft>
                          <a:spcPts val="800"/>
                        </a:spcAft>
                      </a:pPr>
                      <a:r>
                        <a:rPr lang="en-US" sz="1400" kern="100" dirty="0">
                          <a:effectLst/>
                        </a:rPr>
                        <a:t>(Nahar et al., 2024), (Li et al., 2017)</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0317" marR="60317" marT="0" marB="0"/>
                </a:tc>
                <a:tc>
                  <a:txBody>
                    <a:bodyPr/>
                    <a:lstStyle/>
                    <a:p>
                      <a:pPr algn="ctr">
                        <a:lnSpc>
                          <a:spcPct val="107000"/>
                        </a:lnSpc>
                        <a:spcAft>
                          <a:spcPts val="800"/>
                        </a:spcAft>
                      </a:pPr>
                      <a:r>
                        <a:rPr lang="en-US" sz="1400" kern="100" dirty="0">
                          <a:effectLst/>
                        </a:rPr>
                        <a:t>MORDERATELY ROBUST</a:t>
                      </a:r>
                    </a:p>
                    <a:p>
                      <a:pPr algn="ctr">
                        <a:lnSpc>
                          <a:spcPct val="107000"/>
                        </a:lnSpc>
                        <a:spcAft>
                          <a:spcPts val="800"/>
                        </a:spcAft>
                      </a:pPr>
                      <a:r>
                        <a:rPr lang="en-US" sz="1400" kern="100" dirty="0">
                          <a:effectLst/>
                        </a:rPr>
                        <a:t>(Hirose et al., 2019), (Ehaimir et al., 2017)</a:t>
                      </a:r>
                    </a:p>
                    <a:p>
                      <a:pPr algn="ctr">
                        <a:lnSpc>
                          <a:spcPct val="107000"/>
                        </a:lnSpc>
                        <a:spcAft>
                          <a:spcPts val="800"/>
                        </a:spcAft>
                      </a:pPr>
                      <a:r>
                        <a:rPr lang="en-US" sz="1400" kern="100" dirty="0">
                          <a:effectLst/>
                        </a:rPr>
                        <a:t>(Li et al., 2017)</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0317" marR="60317" marT="0" marB="0"/>
                </a:tc>
                <a:tc>
                  <a:txBody>
                    <a:bodyPr/>
                    <a:lstStyle/>
                    <a:p>
                      <a:pPr algn="ctr">
                        <a:lnSpc>
                          <a:spcPct val="107000"/>
                        </a:lnSpc>
                        <a:spcAft>
                          <a:spcPts val="800"/>
                        </a:spcAft>
                      </a:pPr>
                      <a:r>
                        <a:rPr lang="en-US" sz="1400" kern="100" dirty="0">
                          <a:effectLst/>
                        </a:rPr>
                        <a:t>HIGHLY  DEPENDENT</a:t>
                      </a:r>
                    </a:p>
                    <a:p>
                      <a:pPr algn="ctr">
                        <a:lnSpc>
                          <a:spcPct val="107000"/>
                        </a:lnSpc>
                        <a:spcAft>
                          <a:spcPts val="800"/>
                        </a:spcAft>
                      </a:pPr>
                      <a:r>
                        <a:rPr lang="en-US" sz="1400" kern="100" dirty="0">
                          <a:effectLst/>
                        </a:rPr>
                        <a:t>(Li et al., 2017)</a:t>
                      </a:r>
                      <a:endParaRPr lang="en-US" sz="1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0317" marR="60317" marT="0" marB="0"/>
                </a:tc>
                <a:extLst>
                  <a:ext uri="{0D108BD9-81ED-4DB2-BD59-A6C34878D82A}">
                    <a16:rowId xmlns:a16="http://schemas.microsoft.com/office/drawing/2014/main" val="877236927"/>
                  </a:ext>
                </a:extLst>
              </a:tr>
            </a:tbl>
          </a:graphicData>
        </a:graphic>
      </p:graphicFrame>
      <p:sp>
        <p:nvSpPr>
          <p:cNvPr id="9" name="Rectangle 1">
            <a:extLst>
              <a:ext uri="{FF2B5EF4-FFF2-40B4-BE49-F238E27FC236}">
                <a16:creationId xmlns:a16="http://schemas.microsoft.com/office/drawing/2014/main" id="{20184BDC-FD2F-7C25-97AC-7FD481667D04}"/>
              </a:ext>
            </a:extLst>
          </p:cNvPr>
          <p:cNvSpPr>
            <a:spLocks noChangeArrowheads="1"/>
          </p:cNvSpPr>
          <p:nvPr/>
        </p:nvSpPr>
        <p:spPr bwMode="auto">
          <a:xfrm>
            <a:off x="3922713" y="1920875"/>
            <a:ext cx="14630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35425803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63798" y="1843921"/>
            <a:ext cx="12902803" cy="1402556"/>
          </a:xfrm>
          <a:prstGeom prst="rect">
            <a:avLst/>
          </a:prstGeom>
          <a:noFill/>
          <a:ln/>
        </p:spPr>
        <p:txBody>
          <a:bodyPr wrap="square" lIns="0" tIns="0" rIns="0" bIns="0" rtlCol="0" anchor="t"/>
          <a:lstStyle/>
          <a:p>
            <a:pPr marL="0" indent="0">
              <a:lnSpc>
                <a:spcPts val="5500"/>
              </a:lnSpc>
              <a:buNone/>
            </a:pPr>
            <a:r>
              <a:rPr lang="en-US" sz="4400" b="1" kern="0" spc="-44" dirty="0">
                <a:solidFill>
                  <a:srgbClr val="FFFFFF"/>
                </a:solidFill>
                <a:latin typeface="Montserrat" pitchFamily="34" charset="0"/>
                <a:ea typeface="Montserrat" pitchFamily="34" charset="-122"/>
                <a:cs typeface="Montserrat" pitchFamily="34" charset="-120"/>
              </a:rPr>
              <a:t>DATASET OF INTEREST</a:t>
            </a:r>
            <a:endParaRPr lang="en-US" sz="4400" dirty="0"/>
          </a:p>
        </p:txBody>
      </p:sp>
      <p:sp>
        <p:nvSpPr>
          <p:cNvPr id="5" name="Text 3"/>
          <p:cNvSpPr/>
          <p:nvPr/>
        </p:nvSpPr>
        <p:spPr>
          <a:xfrm>
            <a:off x="777300" y="4729088"/>
            <a:ext cx="12259078" cy="2472671"/>
          </a:xfrm>
          <a:prstGeom prst="rect">
            <a:avLst/>
          </a:prstGeom>
          <a:noFill/>
          <a:ln/>
        </p:spPr>
        <p:txBody>
          <a:bodyPr wrap="square" lIns="0" tIns="0" rIns="0" bIns="0" rtlCol="0" anchor="t"/>
          <a:lstStyle/>
          <a:p>
            <a:pPr marL="0" indent="0">
              <a:lnSpc>
                <a:spcPts val="2900"/>
              </a:lnSpc>
              <a:buNone/>
            </a:pPr>
            <a:r>
              <a:rPr lang="en-US" sz="2000" dirty="0"/>
              <a:t>The CASIA-B dataset is widely considered one of the best for gait recognition research because it offers a comprehensive collection of multi-view gait sequences captured under various conditions (normal, carrying bags, wearing coats), allowing for robust analysis of gait patterns across different angles and scenarios</a:t>
            </a:r>
          </a:p>
          <a:p>
            <a:pPr marL="0" indent="0">
              <a:lnSpc>
                <a:spcPts val="2900"/>
              </a:lnSpc>
              <a:buNone/>
            </a:pPr>
            <a:endParaRPr lang="en-US" sz="2000" dirty="0"/>
          </a:p>
          <a:p>
            <a:pPr marL="0" indent="0">
              <a:lnSpc>
                <a:spcPts val="2900"/>
              </a:lnSpc>
              <a:buNone/>
            </a:pPr>
            <a:r>
              <a:rPr lang="en-US" sz="1900" dirty="0"/>
              <a:t>But for this study we are only interested in the  normal conditions.</a:t>
            </a:r>
            <a:endParaRPr lang="en-US" sz="2000" dirty="0"/>
          </a:p>
        </p:txBody>
      </p:sp>
      <p:sp>
        <p:nvSpPr>
          <p:cNvPr id="12" name="TextBox 11">
            <a:extLst>
              <a:ext uri="{FF2B5EF4-FFF2-40B4-BE49-F238E27FC236}">
                <a16:creationId xmlns:a16="http://schemas.microsoft.com/office/drawing/2014/main" id="{0CCA76FC-8512-487D-72F8-543FD5DEB692}"/>
              </a:ext>
            </a:extLst>
          </p:cNvPr>
          <p:cNvSpPr txBox="1"/>
          <p:nvPr/>
        </p:nvSpPr>
        <p:spPr>
          <a:xfrm>
            <a:off x="826457" y="3833067"/>
            <a:ext cx="3720559" cy="707886"/>
          </a:xfrm>
          <a:prstGeom prst="rect">
            <a:avLst/>
          </a:prstGeom>
          <a:noFill/>
        </p:spPr>
        <p:txBody>
          <a:bodyPr wrap="square" rtlCol="0">
            <a:spAutoFit/>
          </a:bodyPr>
          <a:lstStyle/>
          <a:p>
            <a:r>
              <a:rPr lang="en-US" sz="4000" dirty="0">
                <a:latin typeface="Arial Rounded MT Bold" panose="020F0704030504030204" pitchFamily="34" charset="0"/>
              </a:rPr>
              <a:t>CASIA-B</a:t>
            </a:r>
          </a:p>
        </p:txBody>
      </p:sp>
      <p:sp>
        <p:nvSpPr>
          <p:cNvPr id="3" name="AutoShape 2" descr="How to Create Datasets: strategies and examples">
            <a:extLst>
              <a:ext uri="{FF2B5EF4-FFF2-40B4-BE49-F238E27FC236}">
                <a16:creationId xmlns:a16="http://schemas.microsoft.com/office/drawing/2014/main" id="{54AA0B9B-3B16-2AE4-8499-82731170122A}"/>
              </a:ext>
            </a:extLst>
          </p:cNvPr>
          <p:cNvSpPr>
            <a:spLocks noChangeAspect="1" noChangeArrowheads="1"/>
          </p:cNvSpPr>
          <p:nvPr/>
        </p:nvSpPr>
        <p:spPr bwMode="auto">
          <a:xfrm>
            <a:off x="7162800" y="175846"/>
            <a:ext cx="4091354" cy="4091354"/>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6" name="Picture 5" descr="CASIA-B">
            <a:extLst>
              <a:ext uri="{FF2B5EF4-FFF2-40B4-BE49-F238E27FC236}">
                <a16:creationId xmlns:a16="http://schemas.microsoft.com/office/drawing/2014/main" id="{8A04BBA0-6C74-BC2D-A1EF-0DF6830FD594}"/>
              </a:ext>
            </a:extLst>
          </p:cNvPr>
          <p:cNvPicPr>
            <a:picLocks noChangeAspect="1"/>
          </p:cNvPicPr>
          <p:nvPr/>
        </p:nvPicPr>
        <p:blipFill>
          <a:blip r:embed="rId3"/>
          <a:stretch>
            <a:fillRect/>
          </a:stretch>
        </p:blipFill>
        <p:spPr>
          <a:xfrm>
            <a:off x="0" y="-32430"/>
            <a:ext cx="14630400" cy="3865497"/>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350437" y="2161223"/>
            <a:ext cx="6172200" cy="771525"/>
          </a:xfrm>
          <a:prstGeom prst="rect">
            <a:avLst/>
          </a:prstGeom>
          <a:noFill/>
          <a:ln/>
        </p:spPr>
        <p:txBody>
          <a:bodyPr wrap="none" lIns="0" tIns="0" rIns="0" bIns="0" rtlCol="0" anchor="t"/>
          <a:lstStyle/>
          <a:p>
            <a:pPr marL="0" indent="0">
              <a:lnSpc>
                <a:spcPts val="6050"/>
              </a:lnSpc>
              <a:buNone/>
            </a:pPr>
            <a:r>
              <a:rPr lang="en-US" sz="4850" b="1" kern="0" spc="-146" dirty="0">
                <a:solidFill>
                  <a:srgbClr val="000000"/>
                </a:solidFill>
                <a:latin typeface="Inter" pitchFamily="34" charset="0"/>
                <a:ea typeface="Inter" pitchFamily="34" charset="-122"/>
                <a:cs typeface="Inter" pitchFamily="34" charset="-120"/>
              </a:rPr>
              <a:t>Methodology</a:t>
            </a:r>
            <a:endParaRPr lang="en-US" sz="4850" dirty="0"/>
          </a:p>
        </p:txBody>
      </p:sp>
      <p:sp>
        <p:nvSpPr>
          <p:cNvPr id="4" name="Text 1"/>
          <p:cNvSpPr/>
          <p:nvPr/>
        </p:nvSpPr>
        <p:spPr>
          <a:xfrm>
            <a:off x="6350437" y="3303032"/>
            <a:ext cx="7415927" cy="2765346"/>
          </a:xfrm>
          <a:prstGeom prst="rect">
            <a:avLst/>
          </a:prstGeom>
          <a:noFill/>
          <a:ln/>
        </p:spPr>
        <p:txBody>
          <a:bodyPr wrap="square" lIns="0" tIns="0" rIns="0" bIns="0" rtlCol="0" anchor="t"/>
          <a:lstStyle/>
          <a:p>
            <a:pPr marL="0" indent="0">
              <a:lnSpc>
                <a:spcPts val="3100"/>
              </a:lnSpc>
              <a:buNone/>
            </a:pPr>
            <a:r>
              <a:rPr lang="en-US" sz="1900" kern="0" spc="-39" dirty="0">
                <a:solidFill>
                  <a:srgbClr val="272525"/>
                </a:solidFill>
                <a:latin typeface="Inter" pitchFamily="34" charset="0"/>
                <a:ea typeface="Inter" pitchFamily="34" charset="-122"/>
                <a:cs typeface="Inter" pitchFamily="34" charset="-120"/>
              </a:rPr>
              <a:t>The methodology involved using the Kaggle data science platform to implement and evaluate the performance of different silhouette feature representation techniques. A dynamic programming approach was used to create functions representing the dataset in each technique. GPU accelerators were utilized to develop models for classification, using metrics like accuracy and entropy loss.</a:t>
            </a:r>
            <a:endParaRPr lang="en-US" sz="1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83118" y="0"/>
            <a:ext cx="14630400" cy="2242542"/>
          </a:xfrm>
          <a:prstGeom prst="rect">
            <a:avLst/>
          </a:prstGeom>
        </p:spPr>
      </p:pic>
      <p:pic>
        <p:nvPicPr>
          <p:cNvPr id="3" name="Image 1" descr="preencoded.png"/>
          <p:cNvPicPr>
            <a:picLocks noChangeAspect="1"/>
          </p:cNvPicPr>
          <p:nvPr/>
        </p:nvPicPr>
        <p:blipFill>
          <a:blip r:embed="rId4"/>
          <a:stretch>
            <a:fillRect/>
          </a:stretch>
        </p:blipFill>
        <p:spPr>
          <a:xfrm>
            <a:off x="6119098" y="224195"/>
            <a:ext cx="2392204" cy="1794153"/>
          </a:xfrm>
          <a:prstGeom prst="rect">
            <a:avLst/>
          </a:prstGeom>
        </p:spPr>
      </p:pic>
      <p:sp>
        <p:nvSpPr>
          <p:cNvPr id="4" name="Text 0"/>
          <p:cNvSpPr/>
          <p:nvPr/>
        </p:nvSpPr>
        <p:spPr>
          <a:xfrm>
            <a:off x="627817" y="2660709"/>
            <a:ext cx="8673703" cy="560546"/>
          </a:xfrm>
          <a:prstGeom prst="rect">
            <a:avLst/>
          </a:prstGeom>
          <a:noFill/>
          <a:ln/>
        </p:spPr>
        <p:txBody>
          <a:bodyPr wrap="none" lIns="0" tIns="0" rIns="0" bIns="0" rtlCol="0" anchor="t"/>
          <a:lstStyle/>
          <a:p>
            <a:pPr marL="0" indent="0">
              <a:lnSpc>
                <a:spcPts val="4400"/>
              </a:lnSpc>
              <a:buNone/>
            </a:pPr>
            <a:r>
              <a:rPr lang="en-US" sz="3500" dirty="0">
                <a:latin typeface="Saira" pitchFamily="34" charset="0"/>
                <a:ea typeface="Saira" pitchFamily="34" charset="-122"/>
                <a:cs typeface="Saira" pitchFamily="34" charset="-120"/>
              </a:rPr>
              <a:t>Training and Evaluation of the CNN Model</a:t>
            </a:r>
            <a:endParaRPr lang="en-US" sz="3500" dirty="0"/>
          </a:p>
        </p:txBody>
      </p:sp>
      <p:sp>
        <p:nvSpPr>
          <p:cNvPr id="5" name="Text 1"/>
          <p:cNvSpPr/>
          <p:nvPr/>
        </p:nvSpPr>
        <p:spPr>
          <a:xfrm>
            <a:off x="627817" y="3305584"/>
            <a:ext cx="13374767" cy="948758"/>
          </a:xfrm>
          <a:prstGeom prst="rect">
            <a:avLst/>
          </a:prstGeom>
          <a:noFill/>
          <a:ln/>
        </p:spPr>
        <p:txBody>
          <a:bodyPr wrap="square" lIns="0" tIns="0" rIns="0" bIns="0" rtlCol="0" anchor="t"/>
          <a:lstStyle/>
          <a:p>
            <a:pPr marL="0" indent="0">
              <a:lnSpc>
                <a:spcPts val="2250"/>
              </a:lnSpc>
              <a:buNone/>
            </a:pPr>
            <a:r>
              <a:rPr lang="en-US" sz="1400" dirty="0">
                <a:latin typeface="Roboto" pitchFamily="34" charset="0"/>
                <a:ea typeface="Roboto" pitchFamily="34" charset="-122"/>
                <a:cs typeface="Roboto" pitchFamily="34" charset="-120"/>
              </a:rPr>
              <a:t>The CNN model is trained using a dataset of silhouette images labeled with corresponding identities. The training process involves optimizing the model's parameters to minimize the loss function and maximize accuracy. The model's performance is evaluated on a separate test set to assess its generalization ability across all 11 angles of the dataset .</a:t>
            </a:r>
            <a:endParaRPr lang="en-US" sz="1400" dirty="0"/>
          </a:p>
        </p:txBody>
      </p:sp>
      <p:sp>
        <p:nvSpPr>
          <p:cNvPr id="6" name="Shape 2"/>
          <p:cNvSpPr/>
          <p:nvPr/>
        </p:nvSpPr>
        <p:spPr>
          <a:xfrm>
            <a:off x="627817" y="4478536"/>
            <a:ext cx="13374767" cy="3120628"/>
          </a:xfrm>
          <a:prstGeom prst="roundRect">
            <a:avLst>
              <a:gd name="adj" fmla="val 5174"/>
            </a:avLst>
          </a:prstGeom>
          <a:noFill/>
          <a:ln w="7620">
            <a:solidFill>
              <a:srgbClr val="FFFFFF">
                <a:alpha val="24000"/>
              </a:srgbClr>
            </a:solidFill>
            <a:prstDash val="solid"/>
          </a:ln>
        </p:spPr>
        <p:txBody>
          <a:bodyPr/>
          <a:lstStyle/>
          <a:p>
            <a:endParaRPr lang="en-US"/>
          </a:p>
        </p:txBody>
      </p:sp>
      <p:sp>
        <p:nvSpPr>
          <p:cNvPr id="7" name="Shape 3"/>
          <p:cNvSpPr/>
          <p:nvPr/>
        </p:nvSpPr>
        <p:spPr>
          <a:xfrm>
            <a:off x="635437" y="4486156"/>
            <a:ext cx="13359527" cy="517565"/>
          </a:xfrm>
          <a:prstGeom prst="rect">
            <a:avLst/>
          </a:prstGeom>
          <a:solidFill>
            <a:srgbClr val="FFFFFF">
              <a:alpha val="4000"/>
            </a:srgbClr>
          </a:solidFill>
          <a:ln/>
        </p:spPr>
        <p:txBody>
          <a:bodyPr/>
          <a:lstStyle/>
          <a:p>
            <a:endParaRPr lang="en-US"/>
          </a:p>
        </p:txBody>
      </p:sp>
      <p:sp>
        <p:nvSpPr>
          <p:cNvPr id="8" name="Text 4"/>
          <p:cNvSpPr/>
          <p:nvPr/>
        </p:nvSpPr>
        <p:spPr>
          <a:xfrm>
            <a:off x="814745" y="4601408"/>
            <a:ext cx="6317337" cy="287060"/>
          </a:xfrm>
          <a:prstGeom prst="rect">
            <a:avLst/>
          </a:prstGeom>
          <a:noFill/>
          <a:ln/>
        </p:spPr>
        <p:txBody>
          <a:bodyPr wrap="none" lIns="0" tIns="0" rIns="0" bIns="0" rtlCol="0" anchor="t"/>
          <a:lstStyle/>
          <a:p>
            <a:pPr marL="0" indent="0">
              <a:lnSpc>
                <a:spcPts val="2250"/>
              </a:lnSpc>
              <a:buNone/>
            </a:pPr>
            <a:r>
              <a:rPr lang="en-US" sz="1400" dirty="0">
                <a:latin typeface="Roboto" pitchFamily="34" charset="0"/>
                <a:ea typeface="Roboto" pitchFamily="34" charset="-122"/>
                <a:cs typeface="Roboto" pitchFamily="34" charset="-120"/>
              </a:rPr>
              <a:t>Loss Function</a:t>
            </a:r>
            <a:endParaRPr lang="en-US" sz="1400" dirty="0"/>
          </a:p>
        </p:txBody>
      </p:sp>
      <p:sp>
        <p:nvSpPr>
          <p:cNvPr id="9" name="Text 5"/>
          <p:cNvSpPr/>
          <p:nvPr/>
        </p:nvSpPr>
        <p:spPr>
          <a:xfrm>
            <a:off x="7498318" y="4601408"/>
            <a:ext cx="6317337" cy="287060"/>
          </a:xfrm>
          <a:prstGeom prst="rect">
            <a:avLst/>
          </a:prstGeom>
          <a:noFill/>
          <a:ln/>
        </p:spPr>
        <p:txBody>
          <a:bodyPr wrap="none" lIns="0" tIns="0" rIns="0" bIns="0" rtlCol="0" anchor="t"/>
          <a:lstStyle/>
          <a:p>
            <a:pPr marL="0" indent="0">
              <a:lnSpc>
                <a:spcPts val="2250"/>
              </a:lnSpc>
              <a:buNone/>
            </a:pPr>
            <a:r>
              <a:rPr lang="en-US" sz="1400" dirty="0">
                <a:latin typeface="Roboto" pitchFamily="34" charset="0"/>
                <a:ea typeface="Roboto" pitchFamily="34" charset="-122"/>
                <a:cs typeface="Roboto" pitchFamily="34" charset="-120"/>
              </a:rPr>
              <a:t>Sparse Categorical Crossentropy</a:t>
            </a:r>
            <a:endParaRPr lang="en-US" sz="1400" dirty="0"/>
          </a:p>
        </p:txBody>
      </p:sp>
      <p:sp>
        <p:nvSpPr>
          <p:cNvPr id="10" name="Shape 6"/>
          <p:cNvSpPr/>
          <p:nvPr/>
        </p:nvSpPr>
        <p:spPr>
          <a:xfrm>
            <a:off x="635437" y="5003721"/>
            <a:ext cx="13359527" cy="517565"/>
          </a:xfrm>
          <a:prstGeom prst="rect">
            <a:avLst/>
          </a:prstGeom>
          <a:solidFill>
            <a:srgbClr val="000000">
              <a:alpha val="4000"/>
            </a:srgbClr>
          </a:solidFill>
          <a:ln/>
        </p:spPr>
        <p:txBody>
          <a:bodyPr/>
          <a:lstStyle/>
          <a:p>
            <a:endParaRPr lang="en-US"/>
          </a:p>
        </p:txBody>
      </p:sp>
      <p:sp>
        <p:nvSpPr>
          <p:cNvPr id="11" name="Text 7"/>
          <p:cNvSpPr/>
          <p:nvPr/>
        </p:nvSpPr>
        <p:spPr>
          <a:xfrm>
            <a:off x="814745" y="5118973"/>
            <a:ext cx="6317337" cy="287060"/>
          </a:xfrm>
          <a:prstGeom prst="rect">
            <a:avLst/>
          </a:prstGeom>
          <a:noFill/>
          <a:ln/>
        </p:spPr>
        <p:txBody>
          <a:bodyPr wrap="none" lIns="0" tIns="0" rIns="0" bIns="0" rtlCol="0" anchor="t"/>
          <a:lstStyle/>
          <a:p>
            <a:pPr marL="0" indent="0">
              <a:lnSpc>
                <a:spcPts val="2250"/>
              </a:lnSpc>
              <a:buNone/>
            </a:pPr>
            <a:r>
              <a:rPr lang="en-US" sz="1400" dirty="0">
                <a:latin typeface="Roboto" pitchFamily="34" charset="0"/>
                <a:ea typeface="Roboto" pitchFamily="34" charset="-122"/>
                <a:cs typeface="Roboto" pitchFamily="34" charset="-120"/>
              </a:rPr>
              <a:t>Optimizer</a:t>
            </a:r>
            <a:endParaRPr lang="en-US" sz="1400" dirty="0"/>
          </a:p>
        </p:txBody>
      </p:sp>
      <p:sp>
        <p:nvSpPr>
          <p:cNvPr id="12" name="Text 8"/>
          <p:cNvSpPr/>
          <p:nvPr/>
        </p:nvSpPr>
        <p:spPr>
          <a:xfrm>
            <a:off x="7498318" y="5118973"/>
            <a:ext cx="6317337" cy="287060"/>
          </a:xfrm>
          <a:prstGeom prst="rect">
            <a:avLst/>
          </a:prstGeom>
          <a:noFill/>
          <a:ln/>
        </p:spPr>
        <p:txBody>
          <a:bodyPr wrap="none" lIns="0" tIns="0" rIns="0" bIns="0" rtlCol="0" anchor="t"/>
          <a:lstStyle/>
          <a:p>
            <a:pPr marL="0" indent="0">
              <a:lnSpc>
                <a:spcPts val="2250"/>
              </a:lnSpc>
              <a:buNone/>
            </a:pPr>
            <a:r>
              <a:rPr lang="en-US" sz="1400" dirty="0">
                <a:latin typeface="Roboto" pitchFamily="34" charset="0"/>
                <a:ea typeface="Roboto" pitchFamily="34" charset="-122"/>
                <a:cs typeface="Roboto" pitchFamily="34" charset="-120"/>
              </a:rPr>
              <a:t>Stochastic Gradient Descent (SGD)</a:t>
            </a:r>
            <a:endParaRPr lang="en-US" sz="1400" dirty="0"/>
          </a:p>
        </p:txBody>
      </p:sp>
      <p:sp>
        <p:nvSpPr>
          <p:cNvPr id="13" name="Shape 9"/>
          <p:cNvSpPr/>
          <p:nvPr/>
        </p:nvSpPr>
        <p:spPr>
          <a:xfrm>
            <a:off x="660151" y="5533642"/>
            <a:ext cx="13359527" cy="517565"/>
          </a:xfrm>
          <a:prstGeom prst="rect">
            <a:avLst/>
          </a:prstGeom>
          <a:solidFill>
            <a:srgbClr val="FFFFFF">
              <a:alpha val="4000"/>
            </a:srgbClr>
          </a:solidFill>
          <a:ln/>
        </p:spPr>
        <p:txBody>
          <a:bodyPr/>
          <a:lstStyle/>
          <a:p>
            <a:endParaRPr lang="en-US" dirty="0"/>
          </a:p>
        </p:txBody>
      </p:sp>
      <p:sp>
        <p:nvSpPr>
          <p:cNvPr id="14" name="Text 10"/>
          <p:cNvSpPr/>
          <p:nvPr/>
        </p:nvSpPr>
        <p:spPr>
          <a:xfrm>
            <a:off x="814745" y="5636538"/>
            <a:ext cx="6317337" cy="287060"/>
          </a:xfrm>
          <a:prstGeom prst="rect">
            <a:avLst/>
          </a:prstGeom>
          <a:noFill/>
          <a:ln/>
        </p:spPr>
        <p:txBody>
          <a:bodyPr wrap="none" lIns="0" tIns="0" rIns="0" bIns="0" rtlCol="0" anchor="t"/>
          <a:lstStyle/>
          <a:p>
            <a:pPr marL="0" indent="0">
              <a:lnSpc>
                <a:spcPts val="2250"/>
              </a:lnSpc>
              <a:buNone/>
            </a:pPr>
            <a:r>
              <a:rPr lang="en-US" sz="1400" dirty="0">
                <a:latin typeface="Roboto" pitchFamily="34" charset="0"/>
                <a:ea typeface="Roboto" pitchFamily="34" charset="-122"/>
                <a:cs typeface="Roboto" pitchFamily="34" charset="-120"/>
              </a:rPr>
              <a:t>Metrics</a:t>
            </a:r>
            <a:endParaRPr lang="en-US" sz="1400" dirty="0"/>
          </a:p>
        </p:txBody>
      </p:sp>
      <p:sp>
        <p:nvSpPr>
          <p:cNvPr id="15" name="Text 11"/>
          <p:cNvSpPr/>
          <p:nvPr/>
        </p:nvSpPr>
        <p:spPr>
          <a:xfrm>
            <a:off x="7498318" y="5636538"/>
            <a:ext cx="6317337" cy="287060"/>
          </a:xfrm>
          <a:prstGeom prst="rect">
            <a:avLst/>
          </a:prstGeom>
          <a:noFill/>
          <a:ln/>
        </p:spPr>
        <p:txBody>
          <a:bodyPr wrap="none" lIns="0" tIns="0" rIns="0" bIns="0" rtlCol="0" anchor="t"/>
          <a:lstStyle/>
          <a:p>
            <a:pPr marL="0" indent="0">
              <a:lnSpc>
                <a:spcPts val="2250"/>
              </a:lnSpc>
              <a:buNone/>
            </a:pPr>
            <a:r>
              <a:rPr lang="en-US" sz="1400" dirty="0">
                <a:latin typeface="Roboto" pitchFamily="34" charset="0"/>
                <a:ea typeface="Roboto" pitchFamily="34" charset="-122"/>
                <a:cs typeface="Roboto" pitchFamily="34" charset="-120"/>
              </a:rPr>
              <a:t>Accuracy &amp; Entropy Loss</a:t>
            </a:r>
            <a:endParaRPr lang="en-US" sz="1400" dirty="0"/>
          </a:p>
        </p:txBody>
      </p:sp>
      <p:sp>
        <p:nvSpPr>
          <p:cNvPr id="16" name="Shape 12"/>
          <p:cNvSpPr/>
          <p:nvPr/>
        </p:nvSpPr>
        <p:spPr>
          <a:xfrm>
            <a:off x="635437" y="6038850"/>
            <a:ext cx="13359527" cy="517565"/>
          </a:xfrm>
          <a:prstGeom prst="rect">
            <a:avLst/>
          </a:prstGeom>
          <a:solidFill>
            <a:srgbClr val="000000">
              <a:alpha val="4000"/>
            </a:srgbClr>
          </a:solidFill>
          <a:ln/>
        </p:spPr>
        <p:txBody>
          <a:bodyPr/>
          <a:lstStyle/>
          <a:p>
            <a:endParaRPr lang="en-US"/>
          </a:p>
        </p:txBody>
      </p:sp>
      <p:sp>
        <p:nvSpPr>
          <p:cNvPr id="17" name="Text 13"/>
          <p:cNvSpPr/>
          <p:nvPr/>
        </p:nvSpPr>
        <p:spPr>
          <a:xfrm>
            <a:off x="814745" y="6154103"/>
            <a:ext cx="6317337" cy="287060"/>
          </a:xfrm>
          <a:prstGeom prst="rect">
            <a:avLst/>
          </a:prstGeom>
          <a:noFill/>
          <a:ln/>
        </p:spPr>
        <p:txBody>
          <a:bodyPr wrap="none" lIns="0" tIns="0" rIns="0" bIns="0" rtlCol="0" anchor="t"/>
          <a:lstStyle/>
          <a:p>
            <a:pPr marL="0" indent="0">
              <a:lnSpc>
                <a:spcPts val="2250"/>
              </a:lnSpc>
              <a:buNone/>
            </a:pPr>
            <a:r>
              <a:rPr lang="en-US" sz="1400" dirty="0">
                <a:latin typeface="Roboto" pitchFamily="34" charset="0"/>
                <a:ea typeface="Roboto" pitchFamily="34" charset="-122"/>
                <a:cs typeface="Roboto" pitchFamily="34" charset="-120"/>
              </a:rPr>
              <a:t>Batch Size</a:t>
            </a:r>
            <a:endParaRPr lang="en-US" sz="1400" dirty="0"/>
          </a:p>
        </p:txBody>
      </p:sp>
      <p:sp>
        <p:nvSpPr>
          <p:cNvPr id="18" name="Text 14"/>
          <p:cNvSpPr/>
          <p:nvPr/>
        </p:nvSpPr>
        <p:spPr>
          <a:xfrm>
            <a:off x="7498318" y="6154103"/>
            <a:ext cx="6317337" cy="287060"/>
          </a:xfrm>
          <a:prstGeom prst="rect">
            <a:avLst/>
          </a:prstGeom>
          <a:noFill/>
          <a:ln/>
        </p:spPr>
        <p:txBody>
          <a:bodyPr wrap="none" lIns="0" tIns="0" rIns="0" bIns="0" rtlCol="0" anchor="t"/>
          <a:lstStyle/>
          <a:p>
            <a:pPr marL="0" indent="0">
              <a:lnSpc>
                <a:spcPts val="2250"/>
              </a:lnSpc>
              <a:buNone/>
            </a:pPr>
            <a:r>
              <a:rPr lang="en-US" sz="1400" dirty="0">
                <a:latin typeface="Roboto" pitchFamily="34" charset="0"/>
                <a:ea typeface="Roboto" pitchFamily="34" charset="-122"/>
                <a:cs typeface="Roboto" pitchFamily="34" charset="-120"/>
              </a:rPr>
              <a:t>64</a:t>
            </a:r>
            <a:endParaRPr lang="en-US" sz="1400" dirty="0"/>
          </a:p>
        </p:txBody>
      </p:sp>
      <p:sp>
        <p:nvSpPr>
          <p:cNvPr id="19" name="Shape 15"/>
          <p:cNvSpPr/>
          <p:nvPr/>
        </p:nvSpPr>
        <p:spPr>
          <a:xfrm>
            <a:off x="635437" y="6556415"/>
            <a:ext cx="13359527" cy="517565"/>
          </a:xfrm>
          <a:prstGeom prst="rect">
            <a:avLst/>
          </a:prstGeom>
          <a:solidFill>
            <a:srgbClr val="FFFFFF">
              <a:alpha val="4000"/>
            </a:srgbClr>
          </a:solidFill>
          <a:ln/>
        </p:spPr>
        <p:txBody>
          <a:bodyPr/>
          <a:lstStyle/>
          <a:p>
            <a:endParaRPr lang="en-US"/>
          </a:p>
        </p:txBody>
      </p:sp>
      <p:sp>
        <p:nvSpPr>
          <p:cNvPr id="20" name="Text 16"/>
          <p:cNvSpPr/>
          <p:nvPr/>
        </p:nvSpPr>
        <p:spPr>
          <a:xfrm>
            <a:off x="814745" y="6671667"/>
            <a:ext cx="6317337" cy="287060"/>
          </a:xfrm>
          <a:prstGeom prst="rect">
            <a:avLst/>
          </a:prstGeom>
          <a:noFill/>
          <a:ln/>
        </p:spPr>
        <p:txBody>
          <a:bodyPr wrap="none" lIns="0" tIns="0" rIns="0" bIns="0" rtlCol="0" anchor="t"/>
          <a:lstStyle/>
          <a:p>
            <a:pPr marL="0" indent="0">
              <a:lnSpc>
                <a:spcPts val="2250"/>
              </a:lnSpc>
              <a:buNone/>
            </a:pPr>
            <a:r>
              <a:rPr lang="en-US" sz="1400" dirty="0">
                <a:latin typeface="Roboto" pitchFamily="34" charset="0"/>
                <a:ea typeface="Roboto" pitchFamily="34" charset="-122"/>
                <a:cs typeface="Roboto" pitchFamily="34" charset="-120"/>
              </a:rPr>
              <a:t>Epochs</a:t>
            </a:r>
            <a:endParaRPr lang="en-US" sz="1400" dirty="0"/>
          </a:p>
        </p:txBody>
      </p:sp>
      <p:sp>
        <p:nvSpPr>
          <p:cNvPr id="21" name="Text 17"/>
          <p:cNvSpPr/>
          <p:nvPr/>
        </p:nvSpPr>
        <p:spPr>
          <a:xfrm>
            <a:off x="7498318" y="6671667"/>
            <a:ext cx="6317337" cy="287060"/>
          </a:xfrm>
          <a:prstGeom prst="rect">
            <a:avLst/>
          </a:prstGeom>
          <a:noFill/>
          <a:ln/>
        </p:spPr>
        <p:txBody>
          <a:bodyPr wrap="none" lIns="0" tIns="0" rIns="0" bIns="0" rtlCol="0" anchor="t"/>
          <a:lstStyle/>
          <a:p>
            <a:pPr marL="0" indent="0">
              <a:lnSpc>
                <a:spcPts val="2250"/>
              </a:lnSpc>
              <a:buNone/>
            </a:pPr>
            <a:r>
              <a:rPr lang="en-US" sz="1400" dirty="0">
                <a:latin typeface="Roboto" pitchFamily="34" charset="0"/>
                <a:ea typeface="Roboto" pitchFamily="34" charset="-122"/>
                <a:cs typeface="Roboto" pitchFamily="34" charset="-120"/>
              </a:rPr>
              <a:t>150</a:t>
            </a:r>
            <a:endParaRPr lang="en-US" sz="1400" dirty="0"/>
          </a:p>
        </p:txBody>
      </p:sp>
      <p:sp>
        <p:nvSpPr>
          <p:cNvPr id="22" name="Shape 18"/>
          <p:cNvSpPr/>
          <p:nvPr/>
        </p:nvSpPr>
        <p:spPr>
          <a:xfrm>
            <a:off x="635437" y="7073979"/>
            <a:ext cx="13359527" cy="517565"/>
          </a:xfrm>
          <a:prstGeom prst="rect">
            <a:avLst/>
          </a:prstGeom>
          <a:solidFill>
            <a:srgbClr val="000000">
              <a:alpha val="4000"/>
            </a:srgbClr>
          </a:solidFill>
          <a:ln/>
        </p:spPr>
        <p:txBody>
          <a:bodyPr/>
          <a:lstStyle/>
          <a:p>
            <a:endParaRPr lang="en-US"/>
          </a:p>
        </p:txBody>
      </p:sp>
      <p:sp>
        <p:nvSpPr>
          <p:cNvPr id="23" name="Text 19"/>
          <p:cNvSpPr/>
          <p:nvPr/>
        </p:nvSpPr>
        <p:spPr>
          <a:xfrm>
            <a:off x="814745" y="7189232"/>
            <a:ext cx="6317337" cy="287060"/>
          </a:xfrm>
          <a:prstGeom prst="rect">
            <a:avLst/>
          </a:prstGeom>
          <a:noFill/>
          <a:ln/>
        </p:spPr>
        <p:txBody>
          <a:bodyPr wrap="none" lIns="0" tIns="0" rIns="0" bIns="0" rtlCol="0" anchor="t"/>
          <a:lstStyle/>
          <a:p>
            <a:pPr marL="0" indent="0">
              <a:lnSpc>
                <a:spcPts val="2250"/>
              </a:lnSpc>
              <a:buNone/>
            </a:pPr>
            <a:r>
              <a:rPr lang="en-US" sz="1400" dirty="0">
                <a:latin typeface="Roboto" pitchFamily="34" charset="0"/>
                <a:ea typeface="Roboto" pitchFamily="34" charset="-122"/>
                <a:cs typeface="Roboto" pitchFamily="34" charset="-120"/>
              </a:rPr>
              <a:t>Validation Split</a:t>
            </a:r>
            <a:endParaRPr lang="en-US" sz="1400" dirty="0"/>
          </a:p>
        </p:txBody>
      </p:sp>
      <p:sp>
        <p:nvSpPr>
          <p:cNvPr id="24" name="Text 20"/>
          <p:cNvSpPr/>
          <p:nvPr/>
        </p:nvSpPr>
        <p:spPr>
          <a:xfrm>
            <a:off x="7498318" y="7189232"/>
            <a:ext cx="6317337" cy="287060"/>
          </a:xfrm>
          <a:prstGeom prst="rect">
            <a:avLst/>
          </a:prstGeom>
          <a:noFill/>
          <a:ln/>
        </p:spPr>
        <p:txBody>
          <a:bodyPr wrap="none" lIns="0" tIns="0" rIns="0" bIns="0" rtlCol="0" anchor="t"/>
          <a:lstStyle/>
          <a:p>
            <a:pPr marL="0" indent="0">
              <a:lnSpc>
                <a:spcPts val="2250"/>
              </a:lnSpc>
              <a:buNone/>
            </a:pPr>
            <a:r>
              <a:rPr lang="en-US" sz="1400" dirty="0">
                <a:latin typeface="Roboto" pitchFamily="34" charset="0"/>
                <a:ea typeface="Roboto" pitchFamily="34" charset="-122"/>
                <a:cs typeface="Roboto" pitchFamily="34" charset="-120"/>
              </a:rPr>
              <a:t>0.2</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83118" y="0"/>
            <a:ext cx="14630400" cy="2242542"/>
          </a:xfrm>
          <a:prstGeom prst="rect">
            <a:avLst/>
          </a:prstGeom>
        </p:spPr>
      </p:pic>
      <p:pic>
        <p:nvPicPr>
          <p:cNvPr id="3" name="Image 1" descr="preencoded.png"/>
          <p:cNvPicPr>
            <a:picLocks noChangeAspect="1"/>
          </p:cNvPicPr>
          <p:nvPr/>
        </p:nvPicPr>
        <p:blipFill>
          <a:blip r:embed="rId4"/>
          <a:stretch>
            <a:fillRect/>
          </a:stretch>
        </p:blipFill>
        <p:spPr>
          <a:xfrm>
            <a:off x="6119098" y="224195"/>
            <a:ext cx="2392204" cy="1794153"/>
          </a:xfrm>
          <a:prstGeom prst="rect">
            <a:avLst/>
          </a:prstGeom>
        </p:spPr>
      </p:pic>
      <p:sp>
        <p:nvSpPr>
          <p:cNvPr id="4" name="Text 0"/>
          <p:cNvSpPr/>
          <p:nvPr/>
        </p:nvSpPr>
        <p:spPr>
          <a:xfrm>
            <a:off x="620197" y="2629785"/>
            <a:ext cx="10555048" cy="560546"/>
          </a:xfrm>
          <a:prstGeom prst="rect">
            <a:avLst/>
          </a:prstGeom>
          <a:noFill/>
          <a:ln/>
        </p:spPr>
        <p:txBody>
          <a:bodyPr wrap="none" lIns="0" tIns="0" rIns="0" bIns="0" rtlCol="0" anchor="t"/>
          <a:lstStyle/>
          <a:p>
            <a:pPr marL="0" indent="0">
              <a:lnSpc>
                <a:spcPts val="4400"/>
              </a:lnSpc>
              <a:buNone/>
            </a:pPr>
            <a:r>
              <a:rPr lang="en-US" sz="3500" dirty="0">
                <a:latin typeface="Saira" pitchFamily="34" charset="0"/>
                <a:ea typeface="Saira" pitchFamily="34" charset="-122"/>
                <a:cs typeface="Saira" pitchFamily="34" charset="-120"/>
              </a:rPr>
              <a:t>Training and Evaluation of the MobileNetV2 Model</a:t>
            </a:r>
            <a:endParaRPr lang="en-US" sz="3500" dirty="0"/>
          </a:p>
        </p:txBody>
      </p:sp>
      <p:sp>
        <p:nvSpPr>
          <p:cNvPr id="5" name="Text 1"/>
          <p:cNvSpPr/>
          <p:nvPr/>
        </p:nvSpPr>
        <p:spPr>
          <a:xfrm>
            <a:off x="635437" y="3208149"/>
            <a:ext cx="13374767" cy="1205286"/>
          </a:xfrm>
          <a:prstGeom prst="rect">
            <a:avLst/>
          </a:prstGeom>
          <a:noFill/>
          <a:ln/>
        </p:spPr>
        <p:txBody>
          <a:bodyPr wrap="square" lIns="0" tIns="0" rIns="0" bIns="0" rtlCol="0" anchor="t"/>
          <a:lstStyle/>
          <a:p>
            <a:pPr marL="0" indent="0">
              <a:lnSpc>
                <a:spcPts val="2250"/>
              </a:lnSpc>
              <a:buNone/>
            </a:pPr>
            <a:r>
              <a:rPr lang="en-US" sz="1400" dirty="0">
                <a:latin typeface="Roboto" pitchFamily="34" charset="0"/>
                <a:ea typeface="Roboto" pitchFamily="34" charset="-122"/>
                <a:cs typeface="Roboto" pitchFamily="34" charset="-120"/>
              </a:rPr>
              <a:t>Another Model was used as a basis for comparison called MobileNetV2. This MobileNetV2 model uses transfer learning, where a pre-trained MobileNetV2 base is used as a feature extractor with its weights frozen. The extracted features are then passed through additional layers (including a Global Average Pooling layer, a dense layer, and a dropout layer) before the final classification layer, which is trained on the specific silhouette feature representation technique dataset to classify subjects based on their walking patterns from different camera angles.</a:t>
            </a:r>
            <a:endParaRPr lang="en-US" sz="1400" dirty="0"/>
          </a:p>
        </p:txBody>
      </p:sp>
      <p:sp>
        <p:nvSpPr>
          <p:cNvPr id="6" name="Shape 2"/>
          <p:cNvSpPr/>
          <p:nvPr/>
        </p:nvSpPr>
        <p:spPr>
          <a:xfrm>
            <a:off x="627817" y="4478536"/>
            <a:ext cx="13374767" cy="3120628"/>
          </a:xfrm>
          <a:prstGeom prst="roundRect">
            <a:avLst>
              <a:gd name="adj" fmla="val 5174"/>
            </a:avLst>
          </a:prstGeom>
          <a:noFill/>
          <a:ln w="7620">
            <a:solidFill>
              <a:srgbClr val="FFFFFF">
                <a:alpha val="24000"/>
              </a:srgbClr>
            </a:solidFill>
            <a:prstDash val="solid"/>
          </a:ln>
        </p:spPr>
        <p:txBody>
          <a:bodyPr/>
          <a:lstStyle/>
          <a:p>
            <a:endParaRPr lang="en-US"/>
          </a:p>
        </p:txBody>
      </p:sp>
      <p:sp>
        <p:nvSpPr>
          <p:cNvPr id="7" name="Shape 3"/>
          <p:cNvSpPr/>
          <p:nvPr/>
        </p:nvSpPr>
        <p:spPr>
          <a:xfrm>
            <a:off x="635437" y="4486156"/>
            <a:ext cx="13359527" cy="517565"/>
          </a:xfrm>
          <a:prstGeom prst="rect">
            <a:avLst/>
          </a:prstGeom>
          <a:solidFill>
            <a:srgbClr val="FFFFFF">
              <a:alpha val="4000"/>
            </a:srgbClr>
          </a:solidFill>
          <a:ln/>
        </p:spPr>
        <p:txBody>
          <a:bodyPr/>
          <a:lstStyle/>
          <a:p>
            <a:endParaRPr lang="en-US"/>
          </a:p>
        </p:txBody>
      </p:sp>
      <p:sp>
        <p:nvSpPr>
          <p:cNvPr id="8" name="Text 4"/>
          <p:cNvSpPr/>
          <p:nvPr/>
        </p:nvSpPr>
        <p:spPr>
          <a:xfrm>
            <a:off x="814745" y="4601408"/>
            <a:ext cx="6317337" cy="287060"/>
          </a:xfrm>
          <a:prstGeom prst="rect">
            <a:avLst/>
          </a:prstGeom>
          <a:noFill/>
          <a:ln/>
        </p:spPr>
        <p:txBody>
          <a:bodyPr wrap="none" lIns="0" tIns="0" rIns="0" bIns="0" rtlCol="0" anchor="t"/>
          <a:lstStyle/>
          <a:p>
            <a:pPr marL="0" indent="0">
              <a:lnSpc>
                <a:spcPts val="2250"/>
              </a:lnSpc>
              <a:buNone/>
            </a:pPr>
            <a:r>
              <a:rPr lang="en-US" sz="1400" dirty="0">
                <a:latin typeface="Roboto" pitchFamily="34" charset="0"/>
                <a:ea typeface="Roboto" pitchFamily="34" charset="-122"/>
                <a:cs typeface="Roboto" pitchFamily="34" charset="-120"/>
              </a:rPr>
              <a:t>Loss Function</a:t>
            </a:r>
            <a:endParaRPr lang="en-US" sz="1400" dirty="0"/>
          </a:p>
        </p:txBody>
      </p:sp>
      <p:sp>
        <p:nvSpPr>
          <p:cNvPr id="9" name="Text 5"/>
          <p:cNvSpPr/>
          <p:nvPr/>
        </p:nvSpPr>
        <p:spPr>
          <a:xfrm>
            <a:off x="7498318" y="4601408"/>
            <a:ext cx="6317337" cy="287060"/>
          </a:xfrm>
          <a:prstGeom prst="rect">
            <a:avLst/>
          </a:prstGeom>
          <a:noFill/>
          <a:ln/>
        </p:spPr>
        <p:txBody>
          <a:bodyPr wrap="none" lIns="0" tIns="0" rIns="0" bIns="0" rtlCol="0" anchor="t"/>
          <a:lstStyle/>
          <a:p>
            <a:pPr marL="0" indent="0">
              <a:lnSpc>
                <a:spcPts val="2250"/>
              </a:lnSpc>
              <a:buNone/>
            </a:pPr>
            <a:r>
              <a:rPr lang="en-US" sz="1400" dirty="0">
                <a:latin typeface="Roboto" pitchFamily="34" charset="0"/>
                <a:ea typeface="Roboto" pitchFamily="34" charset="-122"/>
                <a:cs typeface="Roboto" pitchFamily="34" charset="-120"/>
              </a:rPr>
              <a:t>Sparse Categorical Crossentropy</a:t>
            </a:r>
            <a:endParaRPr lang="en-US" sz="1400" dirty="0"/>
          </a:p>
        </p:txBody>
      </p:sp>
      <p:sp>
        <p:nvSpPr>
          <p:cNvPr id="10" name="Shape 6"/>
          <p:cNvSpPr/>
          <p:nvPr/>
        </p:nvSpPr>
        <p:spPr>
          <a:xfrm>
            <a:off x="635437" y="5003721"/>
            <a:ext cx="13359527" cy="517565"/>
          </a:xfrm>
          <a:prstGeom prst="rect">
            <a:avLst/>
          </a:prstGeom>
          <a:solidFill>
            <a:srgbClr val="000000">
              <a:alpha val="4000"/>
            </a:srgbClr>
          </a:solidFill>
          <a:ln/>
        </p:spPr>
        <p:txBody>
          <a:bodyPr/>
          <a:lstStyle/>
          <a:p>
            <a:endParaRPr lang="en-US"/>
          </a:p>
        </p:txBody>
      </p:sp>
      <p:sp>
        <p:nvSpPr>
          <p:cNvPr id="11" name="Text 7"/>
          <p:cNvSpPr/>
          <p:nvPr/>
        </p:nvSpPr>
        <p:spPr>
          <a:xfrm>
            <a:off x="814745" y="5118973"/>
            <a:ext cx="6317337" cy="287060"/>
          </a:xfrm>
          <a:prstGeom prst="rect">
            <a:avLst/>
          </a:prstGeom>
          <a:noFill/>
          <a:ln/>
        </p:spPr>
        <p:txBody>
          <a:bodyPr wrap="none" lIns="0" tIns="0" rIns="0" bIns="0" rtlCol="0" anchor="t"/>
          <a:lstStyle/>
          <a:p>
            <a:pPr marL="0" indent="0">
              <a:lnSpc>
                <a:spcPts val="2250"/>
              </a:lnSpc>
              <a:buNone/>
            </a:pPr>
            <a:r>
              <a:rPr lang="en-US" sz="1400" dirty="0">
                <a:latin typeface="Roboto" pitchFamily="34" charset="0"/>
                <a:ea typeface="Roboto" pitchFamily="34" charset="-122"/>
                <a:cs typeface="Roboto" pitchFamily="34" charset="-120"/>
              </a:rPr>
              <a:t>Optimizer</a:t>
            </a:r>
            <a:endParaRPr lang="en-US" sz="1400" dirty="0"/>
          </a:p>
        </p:txBody>
      </p:sp>
      <p:sp>
        <p:nvSpPr>
          <p:cNvPr id="12" name="Text 8"/>
          <p:cNvSpPr/>
          <p:nvPr/>
        </p:nvSpPr>
        <p:spPr>
          <a:xfrm>
            <a:off x="7498318" y="5118973"/>
            <a:ext cx="6317337" cy="287060"/>
          </a:xfrm>
          <a:prstGeom prst="rect">
            <a:avLst/>
          </a:prstGeom>
          <a:noFill/>
          <a:ln/>
        </p:spPr>
        <p:txBody>
          <a:bodyPr wrap="none" lIns="0" tIns="0" rIns="0" bIns="0" rtlCol="0" anchor="t"/>
          <a:lstStyle/>
          <a:p>
            <a:pPr marL="0" indent="0">
              <a:lnSpc>
                <a:spcPts val="2250"/>
              </a:lnSpc>
              <a:buNone/>
            </a:pPr>
            <a:r>
              <a:rPr lang="en-US" sz="1400" dirty="0">
                <a:latin typeface="Roboto" pitchFamily="34" charset="0"/>
                <a:ea typeface="Roboto" pitchFamily="34" charset="-122"/>
                <a:cs typeface="Roboto" pitchFamily="34" charset="-120"/>
              </a:rPr>
              <a:t>Adam</a:t>
            </a:r>
            <a:endParaRPr lang="en-US" sz="1400" dirty="0"/>
          </a:p>
        </p:txBody>
      </p:sp>
      <p:sp>
        <p:nvSpPr>
          <p:cNvPr id="13" name="Shape 9"/>
          <p:cNvSpPr/>
          <p:nvPr/>
        </p:nvSpPr>
        <p:spPr>
          <a:xfrm>
            <a:off x="660151" y="5533642"/>
            <a:ext cx="13359527" cy="517565"/>
          </a:xfrm>
          <a:prstGeom prst="rect">
            <a:avLst/>
          </a:prstGeom>
          <a:solidFill>
            <a:srgbClr val="FFFFFF">
              <a:alpha val="4000"/>
            </a:srgbClr>
          </a:solidFill>
          <a:ln/>
        </p:spPr>
        <p:txBody>
          <a:bodyPr/>
          <a:lstStyle/>
          <a:p>
            <a:endParaRPr lang="en-US" dirty="0"/>
          </a:p>
        </p:txBody>
      </p:sp>
      <p:sp>
        <p:nvSpPr>
          <p:cNvPr id="14" name="Text 10"/>
          <p:cNvSpPr/>
          <p:nvPr/>
        </p:nvSpPr>
        <p:spPr>
          <a:xfrm>
            <a:off x="814745" y="5636538"/>
            <a:ext cx="6317337" cy="287060"/>
          </a:xfrm>
          <a:prstGeom prst="rect">
            <a:avLst/>
          </a:prstGeom>
          <a:noFill/>
          <a:ln/>
        </p:spPr>
        <p:txBody>
          <a:bodyPr wrap="none" lIns="0" tIns="0" rIns="0" bIns="0" rtlCol="0" anchor="t"/>
          <a:lstStyle/>
          <a:p>
            <a:pPr marL="0" indent="0">
              <a:lnSpc>
                <a:spcPts val="2250"/>
              </a:lnSpc>
              <a:buNone/>
            </a:pPr>
            <a:r>
              <a:rPr lang="en-US" sz="1400" dirty="0">
                <a:latin typeface="Roboto" pitchFamily="34" charset="0"/>
                <a:ea typeface="Roboto" pitchFamily="34" charset="-122"/>
                <a:cs typeface="Roboto" pitchFamily="34" charset="-120"/>
              </a:rPr>
              <a:t>Metrics</a:t>
            </a:r>
            <a:endParaRPr lang="en-US" sz="1400" dirty="0"/>
          </a:p>
        </p:txBody>
      </p:sp>
      <p:sp>
        <p:nvSpPr>
          <p:cNvPr id="15" name="Text 11"/>
          <p:cNvSpPr/>
          <p:nvPr/>
        </p:nvSpPr>
        <p:spPr>
          <a:xfrm>
            <a:off x="7498318" y="5636538"/>
            <a:ext cx="6317337" cy="287060"/>
          </a:xfrm>
          <a:prstGeom prst="rect">
            <a:avLst/>
          </a:prstGeom>
          <a:noFill/>
          <a:ln/>
        </p:spPr>
        <p:txBody>
          <a:bodyPr wrap="none" lIns="0" tIns="0" rIns="0" bIns="0" rtlCol="0" anchor="t"/>
          <a:lstStyle/>
          <a:p>
            <a:pPr marL="0" indent="0">
              <a:lnSpc>
                <a:spcPts val="2250"/>
              </a:lnSpc>
              <a:buNone/>
            </a:pPr>
            <a:r>
              <a:rPr lang="en-US" sz="1400" dirty="0">
                <a:latin typeface="Roboto" pitchFamily="34" charset="0"/>
                <a:ea typeface="Roboto" pitchFamily="34" charset="-122"/>
                <a:cs typeface="Roboto" pitchFamily="34" charset="-120"/>
              </a:rPr>
              <a:t>Accuracy &amp; Entropy Loss</a:t>
            </a:r>
            <a:endParaRPr lang="en-US" sz="1400" dirty="0"/>
          </a:p>
        </p:txBody>
      </p:sp>
      <p:sp>
        <p:nvSpPr>
          <p:cNvPr id="16" name="Shape 12"/>
          <p:cNvSpPr/>
          <p:nvPr/>
        </p:nvSpPr>
        <p:spPr>
          <a:xfrm>
            <a:off x="610722" y="6038850"/>
            <a:ext cx="13359527" cy="517565"/>
          </a:xfrm>
          <a:prstGeom prst="rect">
            <a:avLst/>
          </a:prstGeom>
          <a:solidFill>
            <a:srgbClr val="000000">
              <a:alpha val="4000"/>
            </a:srgbClr>
          </a:solidFill>
          <a:ln/>
        </p:spPr>
        <p:txBody>
          <a:bodyPr/>
          <a:lstStyle/>
          <a:p>
            <a:endParaRPr lang="en-US" dirty="0"/>
          </a:p>
        </p:txBody>
      </p:sp>
      <p:sp>
        <p:nvSpPr>
          <p:cNvPr id="17" name="Text 13"/>
          <p:cNvSpPr/>
          <p:nvPr/>
        </p:nvSpPr>
        <p:spPr>
          <a:xfrm>
            <a:off x="814745" y="6154103"/>
            <a:ext cx="6317337" cy="287060"/>
          </a:xfrm>
          <a:prstGeom prst="rect">
            <a:avLst/>
          </a:prstGeom>
          <a:noFill/>
          <a:ln/>
        </p:spPr>
        <p:txBody>
          <a:bodyPr wrap="none" lIns="0" tIns="0" rIns="0" bIns="0" rtlCol="0" anchor="t"/>
          <a:lstStyle/>
          <a:p>
            <a:pPr marL="0" indent="0">
              <a:lnSpc>
                <a:spcPts val="2250"/>
              </a:lnSpc>
              <a:buNone/>
            </a:pPr>
            <a:r>
              <a:rPr lang="en-US" sz="1400" dirty="0">
                <a:latin typeface="Roboto" pitchFamily="34" charset="0"/>
                <a:ea typeface="Roboto" pitchFamily="34" charset="-122"/>
                <a:cs typeface="Roboto" pitchFamily="34" charset="-120"/>
              </a:rPr>
              <a:t>Batch Size</a:t>
            </a:r>
            <a:endParaRPr lang="en-US" sz="1400" dirty="0"/>
          </a:p>
        </p:txBody>
      </p:sp>
      <p:sp>
        <p:nvSpPr>
          <p:cNvPr id="18" name="Text 14"/>
          <p:cNvSpPr/>
          <p:nvPr/>
        </p:nvSpPr>
        <p:spPr>
          <a:xfrm>
            <a:off x="7498318" y="6154103"/>
            <a:ext cx="6317337" cy="287060"/>
          </a:xfrm>
          <a:prstGeom prst="rect">
            <a:avLst/>
          </a:prstGeom>
          <a:noFill/>
          <a:ln/>
        </p:spPr>
        <p:txBody>
          <a:bodyPr wrap="none" lIns="0" tIns="0" rIns="0" bIns="0" rtlCol="0" anchor="t"/>
          <a:lstStyle/>
          <a:p>
            <a:pPr marL="0" indent="0">
              <a:lnSpc>
                <a:spcPts val="2250"/>
              </a:lnSpc>
              <a:buNone/>
            </a:pPr>
            <a:r>
              <a:rPr lang="en-US" sz="1400" dirty="0">
                <a:latin typeface="Roboto" pitchFamily="34" charset="0"/>
                <a:ea typeface="Roboto" pitchFamily="34" charset="-122"/>
                <a:cs typeface="Roboto" pitchFamily="34" charset="-120"/>
              </a:rPr>
              <a:t>32</a:t>
            </a:r>
            <a:endParaRPr lang="en-US" sz="1400" dirty="0"/>
          </a:p>
        </p:txBody>
      </p:sp>
      <p:sp>
        <p:nvSpPr>
          <p:cNvPr id="19" name="Shape 15"/>
          <p:cNvSpPr/>
          <p:nvPr/>
        </p:nvSpPr>
        <p:spPr>
          <a:xfrm>
            <a:off x="620197" y="6588748"/>
            <a:ext cx="13359527" cy="517565"/>
          </a:xfrm>
          <a:prstGeom prst="rect">
            <a:avLst/>
          </a:prstGeom>
          <a:solidFill>
            <a:srgbClr val="FFFFFF">
              <a:alpha val="4000"/>
            </a:srgbClr>
          </a:solidFill>
          <a:ln/>
        </p:spPr>
        <p:txBody>
          <a:bodyPr/>
          <a:lstStyle/>
          <a:p>
            <a:endParaRPr lang="en-US"/>
          </a:p>
        </p:txBody>
      </p:sp>
      <p:sp>
        <p:nvSpPr>
          <p:cNvPr id="20" name="Text 16"/>
          <p:cNvSpPr/>
          <p:nvPr/>
        </p:nvSpPr>
        <p:spPr>
          <a:xfrm>
            <a:off x="814745" y="6671667"/>
            <a:ext cx="6317337" cy="287060"/>
          </a:xfrm>
          <a:prstGeom prst="rect">
            <a:avLst/>
          </a:prstGeom>
          <a:noFill/>
          <a:ln/>
        </p:spPr>
        <p:txBody>
          <a:bodyPr wrap="none" lIns="0" tIns="0" rIns="0" bIns="0" rtlCol="0" anchor="t"/>
          <a:lstStyle/>
          <a:p>
            <a:pPr marL="0" indent="0">
              <a:lnSpc>
                <a:spcPts val="2250"/>
              </a:lnSpc>
              <a:buNone/>
            </a:pPr>
            <a:r>
              <a:rPr lang="en-US" sz="1400" dirty="0">
                <a:latin typeface="Roboto" pitchFamily="34" charset="0"/>
                <a:ea typeface="Roboto" pitchFamily="34" charset="-122"/>
                <a:cs typeface="Roboto" pitchFamily="34" charset="-120"/>
              </a:rPr>
              <a:t>Epochs</a:t>
            </a:r>
            <a:endParaRPr lang="en-US" sz="1400" dirty="0"/>
          </a:p>
        </p:txBody>
      </p:sp>
      <p:sp>
        <p:nvSpPr>
          <p:cNvPr id="21" name="Text 17"/>
          <p:cNvSpPr/>
          <p:nvPr/>
        </p:nvSpPr>
        <p:spPr>
          <a:xfrm>
            <a:off x="7498318" y="6671667"/>
            <a:ext cx="6317337" cy="287060"/>
          </a:xfrm>
          <a:prstGeom prst="rect">
            <a:avLst/>
          </a:prstGeom>
          <a:noFill/>
          <a:ln/>
        </p:spPr>
        <p:txBody>
          <a:bodyPr wrap="none" lIns="0" tIns="0" rIns="0" bIns="0" rtlCol="0" anchor="t"/>
          <a:lstStyle/>
          <a:p>
            <a:pPr marL="0" indent="0">
              <a:lnSpc>
                <a:spcPts val="2250"/>
              </a:lnSpc>
              <a:buNone/>
            </a:pPr>
            <a:r>
              <a:rPr lang="en-US" sz="1400" dirty="0">
                <a:latin typeface="Roboto" pitchFamily="34" charset="0"/>
                <a:ea typeface="Roboto" pitchFamily="34" charset="-122"/>
                <a:cs typeface="Roboto" pitchFamily="34" charset="-120"/>
              </a:rPr>
              <a:t>100</a:t>
            </a:r>
            <a:endParaRPr lang="en-US" sz="1400" dirty="0"/>
          </a:p>
        </p:txBody>
      </p:sp>
      <p:sp>
        <p:nvSpPr>
          <p:cNvPr id="22" name="Shape 18"/>
          <p:cNvSpPr/>
          <p:nvPr/>
        </p:nvSpPr>
        <p:spPr>
          <a:xfrm>
            <a:off x="635437" y="7073979"/>
            <a:ext cx="13359527" cy="517565"/>
          </a:xfrm>
          <a:prstGeom prst="rect">
            <a:avLst/>
          </a:prstGeom>
          <a:solidFill>
            <a:srgbClr val="000000">
              <a:alpha val="4000"/>
            </a:srgbClr>
          </a:solidFill>
          <a:ln/>
        </p:spPr>
        <p:txBody>
          <a:bodyPr/>
          <a:lstStyle/>
          <a:p>
            <a:endParaRPr lang="en-US"/>
          </a:p>
        </p:txBody>
      </p:sp>
      <p:sp>
        <p:nvSpPr>
          <p:cNvPr id="23" name="Text 19"/>
          <p:cNvSpPr/>
          <p:nvPr/>
        </p:nvSpPr>
        <p:spPr>
          <a:xfrm>
            <a:off x="814745" y="7189232"/>
            <a:ext cx="6317337" cy="287060"/>
          </a:xfrm>
          <a:prstGeom prst="rect">
            <a:avLst/>
          </a:prstGeom>
          <a:noFill/>
          <a:ln/>
        </p:spPr>
        <p:txBody>
          <a:bodyPr wrap="none" lIns="0" tIns="0" rIns="0" bIns="0" rtlCol="0" anchor="t"/>
          <a:lstStyle/>
          <a:p>
            <a:pPr marL="0" indent="0">
              <a:lnSpc>
                <a:spcPts val="2250"/>
              </a:lnSpc>
              <a:buNone/>
            </a:pPr>
            <a:r>
              <a:rPr lang="en-US" sz="1400" dirty="0">
                <a:latin typeface="Roboto" pitchFamily="34" charset="0"/>
                <a:ea typeface="Roboto" pitchFamily="34" charset="-122"/>
                <a:cs typeface="Roboto" pitchFamily="34" charset="-120"/>
              </a:rPr>
              <a:t>Validation Split</a:t>
            </a:r>
            <a:endParaRPr lang="en-US" sz="1400" dirty="0"/>
          </a:p>
        </p:txBody>
      </p:sp>
      <p:sp>
        <p:nvSpPr>
          <p:cNvPr id="24" name="Text 20"/>
          <p:cNvSpPr/>
          <p:nvPr/>
        </p:nvSpPr>
        <p:spPr>
          <a:xfrm>
            <a:off x="7498318" y="7189232"/>
            <a:ext cx="6317337" cy="287060"/>
          </a:xfrm>
          <a:prstGeom prst="rect">
            <a:avLst/>
          </a:prstGeom>
          <a:noFill/>
          <a:ln/>
        </p:spPr>
        <p:txBody>
          <a:bodyPr wrap="none" lIns="0" tIns="0" rIns="0" bIns="0" rtlCol="0" anchor="t"/>
          <a:lstStyle/>
          <a:p>
            <a:pPr marL="0" indent="0">
              <a:lnSpc>
                <a:spcPts val="2250"/>
              </a:lnSpc>
              <a:buNone/>
            </a:pPr>
            <a:r>
              <a:rPr lang="en-US" sz="1400" dirty="0">
                <a:latin typeface="Roboto" pitchFamily="34" charset="0"/>
                <a:ea typeface="Roboto" pitchFamily="34" charset="-122"/>
                <a:cs typeface="Roboto" pitchFamily="34" charset="-120"/>
              </a:rPr>
              <a:t>0.2</a:t>
            </a:r>
            <a:endParaRPr lang="en-US" sz="1400" dirty="0"/>
          </a:p>
        </p:txBody>
      </p:sp>
    </p:spTree>
    <p:extLst>
      <p:ext uri="{BB962C8B-B14F-4D97-AF65-F5344CB8AC3E}">
        <p14:creationId xmlns:p14="http://schemas.microsoft.com/office/powerpoint/2010/main" val="2677871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116955" y="552688"/>
            <a:ext cx="7430691" cy="562927"/>
          </a:xfrm>
          <a:prstGeom prst="rect">
            <a:avLst/>
          </a:prstGeom>
          <a:noFill/>
          <a:ln/>
        </p:spPr>
        <p:txBody>
          <a:bodyPr wrap="none" lIns="0" tIns="0" rIns="0" bIns="0" rtlCol="0" anchor="t"/>
          <a:lstStyle/>
          <a:p>
            <a:pPr marL="0" indent="0">
              <a:lnSpc>
                <a:spcPts val="4400"/>
              </a:lnSpc>
              <a:buNone/>
            </a:pPr>
            <a:r>
              <a:rPr lang="en-US" sz="3500" b="1" kern="0" spc="-106" dirty="0">
                <a:solidFill>
                  <a:srgbClr val="000000"/>
                </a:solidFill>
                <a:latin typeface="Inter" pitchFamily="34" charset="0"/>
                <a:ea typeface="Inter" pitchFamily="34" charset="-122"/>
                <a:cs typeface="Inter" pitchFamily="34" charset="-120"/>
              </a:rPr>
              <a:t>Results: Accuracy and Entropy Loss</a:t>
            </a:r>
            <a:endParaRPr lang="en-US" sz="3500" dirty="0"/>
          </a:p>
        </p:txBody>
      </p:sp>
      <p:sp>
        <p:nvSpPr>
          <p:cNvPr id="4" name="Shape 1"/>
          <p:cNvSpPr/>
          <p:nvPr/>
        </p:nvSpPr>
        <p:spPr>
          <a:xfrm>
            <a:off x="6116955" y="1385768"/>
            <a:ext cx="7882890" cy="2900124"/>
          </a:xfrm>
          <a:prstGeom prst="roundRect">
            <a:avLst>
              <a:gd name="adj" fmla="val 2609"/>
            </a:avLst>
          </a:prstGeom>
          <a:noFill/>
          <a:ln w="7620">
            <a:solidFill>
              <a:srgbClr val="000000">
                <a:alpha val="8000"/>
              </a:srgbClr>
            </a:solidFill>
            <a:prstDash val="solid"/>
          </a:ln>
        </p:spPr>
        <p:txBody>
          <a:bodyPr/>
          <a:lstStyle/>
          <a:p>
            <a:endParaRPr lang="en-US"/>
          </a:p>
        </p:txBody>
      </p:sp>
      <p:sp>
        <p:nvSpPr>
          <p:cNvPr id="5" name="Shape 2"/>
          <p:cNvSpPr/>
          <p:nvPr/>
        </p:nvSpPr>
        <p:spPr>
          <a:xfrm>
            <a:off x="6124575" y="1393388"/>
            <a:ext cx="7867650" cy="807482"/>
          </a:xfrm>
          <a:prstGeom prst="rect">
            <a:avLst/>
          </a:prstGeom>
          <a:solidFill>
            <a:srgbClr val="FFFFFF">
              <a:alpha val="4000"/>
            </a:srgbClr>
          </a:solidFill>
          <a:ln/>
        </p:spPr>
        <p:txBody>
          <a:bodyPr/>
          <a:lstStyle/>
          <a:p>
            <a:endParaRPr lang="en-US"/>
          </a:p>
        </p:txBody>
      </p:sp>
      <p:sp>
        <p:nvSpPr>
          <p:cNvPr id="6" name="Text 3"/>
          <p:cNvSpPr/>
          <p:nvPr/>
        </p:nvSpPr>
        <p:spPr>
          <a:xfrm>
            <a:off x="6304717" y="1508998"/>
            <a:ext cx="1209437" cy="288131"/>
          </a:xfrm>
          <a:prstGeom prst="rect">
            <a:avLst/>
          </a:prstGeom>
          <a:noFill/>
          <a:ln/>
        </p:spPr>
        <p:txBody>
          <a:bodyPr wrap="none" lIns="0" tIns="0" rIns="0" bIns="0" rtlCol="0" anchor="t"/>
          <a:lstStyle/>
          <a:p>
            <a:pPr marL="0" indent="0">
              <a:lnSpc>
                <a:spcPts val="2250"/>
              </a:lnSpc>
              <a:buNone/>
            </a:pPr>
            <a:endParaRPr lang="en-US" sz="1400" dirty="0"/>
          </a:p>
        </p:txBody>
      </p:sp>
      <p:sp>
        <p:nvSpPr>
          <p:cNvPr id="7" name="Text 4"/>
          <p:cNvSpPr/>
          <p:nvPr/>
        </p:nvSpPr>
        <p:spPr>
          <a:xfrm>
            <a:off x="7882057" y="1508998"/>
            <a:ext cx="1205627" cy="288131"/>
          </a:xfrm>
          <a:prstGeom prst="rect">
            <a:avLst/>
          </a:prstGeom>
          <a:noFill/>
          <a:ln/>
        </p:spPr>
        <p:txBody>
          <a:bodyPr wrap="none" lIns="0" tIns="0" rIns="0" bIns="0" rtlCol="0" anchor="t"/>
          <a:lstStyle/>
          <a:p>
            <a:pPr marL="0" indent="0">
              <a:lnSpc>
                <a:spcPts val="2250"/>
              </a:lnSpc>
              <a:buNone/>
            </a:pPr>
            <a:endParaRPr lang="en-US" sz="1400" dirty="0"/>
          </a:p>
        </p:txBody>
      </p:sp>
      <p:sp>
        <p:nvSpPr>
          <p:cNvPr id="8" name="Text 5"/>
          <p:cNvSpPr/>
          <p:nvPr/>
        </p:nvSpPr>
        <p:spPr>
          <a:xfrm>
            <a:off x="9455587" y="1508998"/>
            <a:ext cx="1205627" cy="288131"/>
          </a:xfrm>
          <a:prstGeom prst="rect">
            <a:avLst/>
          </a:prstGeom>
          <a:noFill/>
          <a:ln/>
        </p:spPr>
        <p:txBody>
          <a:bodyPr wrap="none" lIns="0" tIns="0" rIns="0" bIns="0" rtlCol="0" anchor="t"/>
          <a:lstStyle/>
          <a:p>
            <a:pPr marL="0" indent="0">
              <a:lnSpc>
                <a:spcPts val="2250"/>
              </a:lnSpc>
              <a:buNone/>
            </a:pPr>
            <a:endParaRPr lang="en-US" sz="1400" dirty="0"/>
          </a:p>
        </p:txBody>
      </p:sp>
      <p:sp>
        <p:nvSpPr>
          <p:cNvPr id="9" name="Text 6"/>
          <p:cNvSpPr/>
          <p:nvPr/>
        </p:nvSpPr>
        <p:spPr>
          <a:xfrm>
            <a:off x="8672632" y="1489530"/>
            <a:ext cx="1205627" cy="576263"/>
          </a:xfrm>
          <a:prstGeom prst="rect">
            <a:avLst/>
          </a:prstGeom>
          <a:noFill/>
          <a:ln/>
        </p:spPr>
        <p:txBody>
          <a:bodyPr wrap="square" lIns="0" tIns="0" rIns="0" bIns="0" rtlCol="0" anchor="t"/>
          <a:lstStyle/>
          <a:p>
            <a:pPr marL="0" indent="0">
              <a:lnSpc>
                <a:spcPts val="2250"/>
              </a:lnSpc>
              <a:buNone/>
            </a:pPr>
            <a:r>
              <a:rPr lang="en-US" sz="1400" kern="0" spc="-28" dirty="0">
                <a:solidFill>
                  <a:srgbClr val="272525"/>
                </a:solidFill>
                <a:latin typeface="Inter" pitchFamily="34" charset="0"/>
                <a:ea typeface="Inter" pitchFamily="34" charset="-122"/>
                <a:cs typeface="Inter" pitchFamily="34" charset="-120"/>
              </a:rPr>
              <a:t>AVERAGE ACCURACIES</a:t>
            </a:r>
            <a:endParaRPr lang="en-US" sz="1400" dirty="0"/>
          </a:p>
        </p:txBody>
      </p:sp>
      <p:sp>
        <p:nvSpPr>
          <p:cNvPr id="10" name="Text 7"/>
          <p:cNvSpPr/>
          <p:nvPr/>
        </p:nvSpPr>
        <p:spPr>
          <a:xfrm>
            <a:off x="11630025" y="1483892"/>
            <a:ext cx="1209437" cy="576263"/>
          </a:xfrm>
          <a:prstGeom prst="rect">
            <a:avLst/>
          </a:prstGeom>
          <a:noFill/>
          <a:ln/>
        </p:spPr>
        <p:txBody>
          <a:bodyPr wrap="square" lIns="0" tIns="0" rIns="0" bIns="0" rtlCol="0" anchor="t"/>
          <a:lstStyle/>
          <a:p>
            <a:pPr marL="0" indent="0">
              <a:lnSpc>
                <a:spcPts val="2250"/>
              </a:lnSpc>
              <a:buNone/>
            </a:pPr>
            <a:r>
              <a:rPr lang="en-US" sz="1400" kern="0" spc="-28" dirty="0">
                <a:solidFill>
                  <a:srgbClr val="272525"/>
                </a:solidFill>
                <a:latin typeface="Inter" pitchFamily="34" charset="0"/>
                <a:ea typeface="Inter" pitchFamily="34" charset="-122"/>
                <a:cs typeface="Inter" pitchFamily="34" charset="-120"/>
              </a:rPr>
              <a:t>MAXIMUM ACCURACIES</a:t>
            </a:r>
            <a:endParaRPr lang="en-US" sz="1400" dirty="0"/>
          </a:p>
        </p:txBody>
      </p:sp>
      <p:sp>
        <p:nvSpPr>
          <p:cNvPr id="11" name="Shape 8"/>
          <p:cNvSpPr/>
          <p:nvPr/>
        </p:nvSpPr>
        <p:spPr>
          <a:xfrm>
            <a:off x="6124575" y="2200870"/>
            <a:ext cx="7867650" cy="519351"/>
          </a:xfrm>
          <a:prstGeom prst="rect">
            <a:avLst/>
          </a:prstGeom>
          <a:solidFill>
            <a:srgbClr val="000000">
              <a:alpha val="4000"/>
            </a:srgbClr>
          </a:solidFill>
          <a:ln/>
        </p:spPr>
        <p:txBody>
          <a:bodyPr/>
          <a:lstStyle/>
          <a:p>
            <a:endParaRPr lang="en-US"/>
          </a:p>
        </p:txBody>
      </p:sp>
      <p:sp>
        <p:nvSpPr>
          <p:cNvPr id="12" name="Text 9"/>
          <p:cNvSpPr/>
          <p:nvPr/>
        </p:nvSpPr>
        <p:spPr>
          <a:xfrm>
            <a:off x="6304717" y="2316480"/>
            <a:ext cx="1209437" cy="288131"/>
          </a:xfrm>
          <a:prstGeom prst="rect">
            <a:avLst/>
          </a:prstGeom>
          <a:noFill/>
          <a:ln/>
        </p:spPr>
        <p:txBody>
          <a:bodyPr wrap="none" lIns="0" tIns="0" rIns="0" bIns="0" rtlCol="0" anchor="t"/>
          <a:lstStyle/>
          <a:p>
            <a:pPr marL="0" indent="0">
              <a:lnSpc>
                <a:spcPts val="2250"/>
              </a:lnSpc>
              <a:buNone/>
            </a:pPr>
            <a:endParaRPr lang="en-US" sz="1400" dirty="0"/>
          </a:p>
        </p:txBody>
      </p:sp>
      <p:sp>
        <p:nvSpPr>
          <p:cNvPr id="13" name="Text 10"/>
          <p:cNvSpPr/>
          <p:nvPr/>
        </p:nvSpPr>
        <p:spPr>
          <a:xfrm>
            <a:off x="7882057" y="2316480"/>
            <a:ext cx="1205627" cy="288131"/>
          </a:xfrm>
          <a:prstGeom prst="rect">
            <a:avLst/>
          </a:prstGeom>
          <a:noFill/>
          <a:ln/>
        </p:spPr>
        <p:txBody>
          <a:bodyPr wrap="none" lIns="0" tIns="0" rIns="0" bIns="0" rtlCol="0" anchor="t"/>
          <a:lstStyle/>
          <a:p>
            <a:pPr marL="0" indent="0">
              <a:lnSpc>
                <a:spcPts val="2250"/>
              </a:lnSpc>
              <a:buNone/>
            </a:pPr>
            <a:r>
              <a:rPr lang="en-US" sz="1400" kern="0" spc="-28" dirty="0">
                <a:solidFill>
                  <a:srgbClr val="272525"/>
                </a:solidFill>
                <a:latin typeface="Inter" pitchFamily="34" charset="0"/>
                <a:ea typeface="Inter" pitchFamily="34" charset="-122"/>
                <a:cs typeface="Inter" pitchFamily="34" charset="-120"/>
              </a:rPr>
              <a:t>MOBILENETv2</a:t>
            </a:r>
            <a:endParaRPr lang="en-US" sz="1400" dirty="0"/>
          </a:p>
        </p:txBody>
      </p:sp>
      <p:sp>
        <p:nvSpPr>
          <p:cNvPr id="14" name="Text 11"/>
          <p:cNvSpPr/>
          <p:nvPr/>
        </p:nvSpPr>
        <p:spPr>
          <a:xfrm>
            <a:off x="9455587" y="2316480"/>
            <a:ext cx="1205627" cy="288131"/>
          </a:xfrm>
          <a:prstGeom prst="rect">
            <a:avLst/>
          </a:prstGeom>
          <a:noFill/>
          <a:ln/>
        </p:spPr>
        <p:txBody>
          <a:bodyPr wrap="none" lIns="0" tIns="0" rIns="0" bIns="0" rtlCol="0" anchor="t"/>
          <a:lstStyle/>
          <a:p>
            <a:pPr marL="0" indent="0">
              <a:lnSpc>
                <a:spcPts val="2250"/>
              </a:lnSpc>
              <a:buNone/>
            </a:pPr>
            <a:r>
              <a:rPr lang="en-US" sz="1400" kern="0" spc="-28" dirty="0">
                <a:solidFill>
                  <a:srgbClr val="272525"/>
                </a:solidFill>
                <a:latin typeface="Inter" pitchFamily="34" charset="0"/>
                <a:ea typeface="Inter" pitchFamily="34" charset="-122"/>
                <a:cs typeface="Inter" pitchFamily="34" charset="-120"/>
              </a:rPr>
              <a:t>CNN</a:t>
            </a:r>
            <a:endParaRPr lang="en-US" sz="1400" dirty="0"/>
          </a:p>
        </p:txBody>
      </p:sp>
      <p:sp>
        <p:nvSpPr>
          <p:cNvPr id="15" name="Text 12"/>
          <p:cNvSpPr/>
          <p:nvPr/>
        </p:nvSpPr>
        <p:spPr>
          <a:xfrm>
            <a:off x="11029117" y="2316480"/>
            <a:ext cx="1205627" cy="288131"/>
          </a:xfrm>
          <a:prstGeom prst="rect">
            <a:avLst/>
          </a:prstGeom>
          <a:noFill/>
          <a:ln/>
        </p:spPr>
        <p:txBody>
          <a:bodyPr wrap="none" lIns="0" tIns="0" rIns="0" bIns="0" rtlCol="0" anchor="t"/>
          <a:lstStyle/>
          <a:p>
            <a:pPr marL="0" indent="0">
              <a:lnSpc>
                <a:spcPts val="2250"/>
              </a:lnSpc>
              <a:buNone/>
            </a:pPr>
            <a:r>
              <a:rPr lang="en-US" sz="1400" kern="0" spc="-28" dirty="0">
                <a:solidFill>
                  <a:srgbClr val="272525"/>
                </a:solidFill>
                <a:latin typeface="Inter" pitchFamily="34" charset="0"/>
                <a:ea typeface="Inter" pitchFamily="34" charset="-122"/>
                <a:cs typeface="Inter" pitchFamily="34" charset="-120"/>
              </a:rPr>
              <a:t>MOBILENETv2</a:t>
            </a:r>
            <a:endParaRPr lang="en-US" sz="1400" dirty="0"/>
          </a:p>
        </p:txBody>
      </p:sp>
      <p:sp>
        <p:nvSpPr>
          <p:cNvPr id="16" name="Text 13"/>
          <p:cNvSpPr/>
          <p:nvPr/>
        </p:nvSpPr>
        <p:spPr>
          <a:xfrm>
            <a:off x="12602647" y="2316480"/>
            <a:ext cx="1209437" cy="288131"/>
          </a:xfrm>
          <a:prstGeom prst="rect">
            <a:avLst/>
          </a:prstGeom>
          <a:noFill/>
          <a:ln/>
        </p:spPr>
        <p:txBody>
          <a:bodyPr wrap="none" lIns="0" tIns="0" rIns="0" bIns="0" rtlCol="0" anchor="t"/>
          <a:lstStyle/>
          <a:p>
            <a:pPr marL="0" indent="0">
              <a:lnSpc>
                <a:spcPts val="2250"/>
              </a:lnSpc>
              <a:buNone/>
            </a:pPr>
            <a:r>
              <a:rPr lang="en-US" sz="1400" kern="0" spc="-28" dirty="0">
                <a:solidFill>
                  <a:srgbClr val="272525"/>
                </a:solidFill>
                <a:latin typeface="Inter" pitchFamily="34" charset="0"/>
                <a:ea typeface="Inter" pitchFamily="34" charset="-122"/>
                <a:cs typeface="Inter" pitchFamily="34" charset="-120"/>
              </a:rPr>
              <a:t>CNN</a:t>
            </a:r>
            <a:endParaRPr lang="en-US" sz="1400" dirty="0"/>
          </a:p>
        </p:txBody>
      </p:sp>
      <p:sp>
        <p:nvSpPr>
          <p:cNvPr id="17" name="Shape 14"/>
          <p:cNvSpPr/>
          <p:nvPr/>
        </p:nvSpPr>
        <p:spPr>
          <a:xfrm>
            <a:off x="6124575" y="2720221"/>
            <a:ext cx="7867650" cy="519351"/>
          </a:xfrm>
          <a:prstGeom prst="rect">
            <a:avLst/>
          </a:prstGeom>
          <a:solidFill>
            <a:srgbClr val="FFFFFF">
              <a:alpha val="4000"/>
            </a:srgbClr>
          </a:solidFill>
          <a:ln/>
        </p:spPr>
        <p:txBody>
          <a:bodyPr/>
          <a:lstStyle/>
          <a:p>
            <a:endParaRPr lang="en-US"/>
          </a:p>
        </p:txBody>
      </p:sp>
      <p:sp>
        <p:nvSpPr>
          <p:cNvPr id="18" name="Text 15"/>
          <p:cNvSpPr/>
          <p:nvPr/>
        </p:nvSpPr>
        <p:spPr>
          <a:xfrm>
            <a:off x="6304717" y="2835831"/>
            <a:ext cx="1209437" cy="288131"/>
          </a:xfrm>
          <a:prstGeom prst="rect">
            <a:avLst/>
          </a:prstGeom>
          <a:noFill/>
          <a:ln/>
        </p:spPr>
        <p:txBody>
          <a:bodyPr wrap="none" lIns="0" tIns="0" rIns="0" bIns="0" rtlCol="0" anchor="t"/>
          <a:lstStyle/>
          <a:p>
            <a:pPr marL="0" indent="0">
              <a:lnSpc>
                <a:spcPts val="2250"/>
              </a:lnSpc>
              <a:buNone/>
            </a:pPr>
            <a:r>
              <a:rPr lang="en-US" sz="1400" kern="0" spc="-28" dirty="0">
                <a:solidFill>
                  <a:srgbClr val="272525"/>
                </a:solidFill>
                <a:latin typeface="Inter" pitchFamily="34" charset="0"/>
                <a:ea typeface="Inter" pitchFamily="34" charset="-122"/>
                <a:cs typeface="Inter" pitchFamily="34" charset="-120"/>
              </a:rPr>
              <a:t>GEI</a:t>
            </a:r>
            <a:endParaRPr lang="en-US" sz="1400" dirty="0"/>
          </a:p>
        </p:txBody>
      </p:sp>
      <p:sp>
        <p:nvSpPr>
          <p:cNvPr id="19" name="Text 16"/>
          <p:cNvSpPr/>
          <p:nvPr/>
        </p:nvSpPr>
        <p:spPr>
          <a:xfrm>
            <a:off x="7882057" y="2835831"/>
            <a:ext cx="1205627" cy="288131"/>
          </a:xfrm>
          <a:prstGeom prst="rect">
            <a:avLst/>
          </a:prstGeom>
          <a:noFill/>
          <a:ln/>
        </p:spPr>
        <p:txBody>
          <a:bodyPr wrap="none" lIns="0" tIns="0" rIns="0" bIns="0" rtlCol="0" anchor="t"/>
          <a:lstStyle/>
          <a:p>
            <a:pPr marL="0" indent="0">
              <a:lnSpc>
                <a:spcPts val="2250"/>
              </a:lnSpc>
              <a:buNone/>
            </a:pPr>
            <a:r>
              <a:rPr lang="en-US" sz="1400" kern="0" spc="-28" dirty="0">
                <a:solidFill>
                  <a:srgbClr val="272525"/>
                </a:solidFill>
                <a:latin typeface="Inter" pitchFamily="34" charset="0"/>
                <a:ea typeface="Inter" pitchFamily="34" charset="-122"/>
                <a:cs typeface="Inter" pitchFamily="34" charset="-120"/>
              </a:rPr>
              <a:t>70.60%</a:t>
            </a:r>
            <a:endParaRPr lang="en-US" sz="1400" dirty="0"/>
          </a:p>
        </p:txBody>
      </p:sp>
      <p:sp>
        <p:nvSpPr>
          <p:cNvPr id="20" name="Text 17"/>
          <p:cNvSpPr/>
          <p:nvPr/>
        </p:nvSpPr>
        <p:spPr>
          <a:xfrm>
            <a:off x="9455587" y="2835831"/>
            <a:ext cx="1205627" cy="288131"/>
          </a:xfrm>
          <a:prstGeom prst="rect">
            <a:avLst/>
          </a:prstGeom>
          <a:noFill/>
          <a:ln/>
        </p:spPr>
        <p:txBody>
          <a:bodyPr wrap="none" lIns="0" tIns="0" rIns="0" bIns="0" rtlCol="0" anchor="t"/>
          <a:lstStyle/>
          <a:p>
            <a:pPr marL="0" indent="0">
              <a:lnSpc>
                <a:spcPts val="2250"/>
              </a:lnSpc>
              <a:buNone/>
            </a:pPr>
            <a:r>
              <a:rPr lang="en-US" sz="1400" kern="0" spc="-28" dirty="0">
                <a:solidFill>
                  <a:srgbClr val="272525"/>
                </a:solidFill>
                <a:latin typeface="Inter" pitchFamily="34" charset="0"/>
                <a:ea typeface="Inter" pitchFamily="34" charset="-122"/>
                <a:cs typeface="Inter" pitchFamily="34" charset="-120"/>
              </a:rPr>
              <a:t>57.40%</a:t>
            </a:r>
            <a:endParaRPr lang="en-US" sz="1400" dirty="0"/>
          </a:p>
        </p:txBody>
      </p:sp>
      <p:sp>
        <p:nvSpPr>
          <p:cNvPr id="21" name="Text 18"/>
          <p:cNvSpPr/>
          <p:nvPr/>
        </p:nvSpPr>
        <p:spPr>
          <a:xfrm>
            <a:off x="11029117" y="2835831"/>
            <a:ext cx="1205627" cy="288131"/>
          </a:xfrm>
          <a:prstGeom prst="rect">
            <a:avLst/>
          </a:prstGeom>
          <a:noFill/>
          <a:ln/>
        </p:spPr>
        <p:txBody>
          <a:bodyPr wrap="none" lIns="0" tIns="0" rIns="0" bIns="0" rtlCol="0" anchor="t"/>
          <a:lstStyle/>
          <a:p>
            <a:pPr marL="0" indent="0">
              <a:lnSpc>
                <a:spcPts val="2250"/>
              </a:lnSpc>
              <a:buNone/>
            </a:pPr>
            <a:r>
              <a:rPr lang="en-US" sz="1400" kern="0" spc="-28" dirty="0">
                <a:solidFill>
                  <a:srgbClr val="272525"/>
                </a:solidFill>
                <a:latin typeface="Inter" pitchFamily="34" charset="0"/>
                <a:ea typeface="Inter" pitchFamily="34" charset="-122"/>
                <a:cs typeface="Inter" pitchFamily="34" charset="-120"/>
              </a:rPr>
              <a:t>80.54%</a:t>
            </a:r>
            <a:endParaRPr lang="en-US" sz="1400" dirty="0"/>
          </a:p>
        </p:txBody>
      </p:sp>
      <p:sp>
        <p:nvSpPr>
          <p:cNvPr id="22" name="Text 19"/>
          <p:cNvSpPr/>
          <p:nvPr/>
        </p:nvSpPr>
        <p:spPr>
          <a:xfrm>
            <a:off x="12602647" y="2835831"/>
            <a:ext cx="1209437" cy="288131"/>
          </a:xfrm>
          <a:prstGeom prst="rect">
            <a:avLst/>
          </a:prstGeom>
          <a:noFill/>
          <a:ln/>
        </p:spPr>
        <p:txBody>
          <a:bodyPr wrap="none" lIns="0" tIns="0" rIns="0" bIns="0" rtlCol="0" anchor="t"/>
          <a:lstStyle/>
          <a:p>
            <a:pPr marL="0" indent="0">
              <a:lnSpc>
                <a:spcPts val="2250"/>
              </a:lnSpc>
              <a:buNone/>
            </a:pPr>
            <a:r>
              <a:rPr lang="en-US" sz="1400" kern="0" spc="-28" dirty="0">
                <a:solidFill>
                  <a:srgbClr val="272525"/>
                </a:solidFill>
                <a:latin typeface="Inter" pitchFamily="34" charset="0"/>
                <a:ea typeface="Inter" pitchFamily="34" charset="-122"/>
                <a:cs typeface="Inter" pitchFamily="34" charset="-120"/>
              </a:rPr>
              <a:t>80.54%</a:t>
            </a:r>
            <a:endParaRPr lang="en-US" sz="1400" dirty="0"/>
          </a:p>
        </p:txBody>
      </p:sp>
      <p:sp>
        <p:nvSpPr>
          <p:cNvPr id="23" name="Shape 20"/>
          <p:cNvSpPr/>
          <p:nvPr/>
        </p:nvSpPr>
        <p:spPr>
          <a:xfrm>
            <a:off x="6124575" y="3239572"/>
            <a:ext cx="7867650" cy="519351"/>
          </a:xfrm>
          <a:prstGeom prst="rect">
            <a:avLst/>
          </a:prstGeom>
          <a:solidFill>
            <a:srgbClr val="000000">
              <a:alpha val="4000"/>
            </a:srgbClr>
          </a:solidFill>
          <a:ln/>
        </p:spPr>
        <p:txBody>
          <a:bodyPr/>
          <a:lstStyle/>
          <a:p>
            <a:endParaRPr lang="en-US"/>
          </a:p>
        </p:txBody>
      </p:sp>
      <p:sp>
        <p:nvSpPr>
          <p:cNvPr id="24" name="Text 21"/>
          <p:cNvSpPr/>
          <p:nvPr/>
        </p:nvSpPr>
        <p:spPr>
          <a:xfrm>
            <a:off x="6304717" y="3355181"/>
            <a:ext cx="1209437" cy="288131"/>
          </a:xfrm>
          <a:prstGeom prst="rect">
            <a:avLst/>
          </a:prstGeom>
          <a:noFill/>
          <a:ln/>
        </p:spPr>
        <p:txBody>
          <a:bodyPr wrap="none" lIns="0" tIns="0" rIns="0" bIns="0" rtlCol="0" anchor="t"/>
          <a:lstStyle/>
          <a:p>
            <a:pPr marL="0" indent="0">
              <a:lnSpc>
                <a:spcPts val="2250"/>
              </a:lnSpc>
              <a:buNone/>
            </a:pPr>
            <a:r>
              <a:rPr lang="en-US" sz="1400" kern="0" spc="-28" dirty="0">
                <a:solidFill>
                  <a:srgbClr val="272525"/>
                </a:solidFill>
                <a:latin typeface="Inter" pitchFamily="34" charset="0"/>
                <a:ea typeface="Inter" pitchFamily="34" charset="-122"/>
                <a:cs typeface="Inter" pitchFamily="34" charset="-120"/>
              </a:rPr>
              <a:t>GEnI</a:t>
            </a:r>
            <a:endParaRPr lang="en-US" sz="1400" dirty="0"/>
          </a:p>
        </p:txBody>
      </p:sp>
      <p:sp>
        <p:nvSpPr>
          <p:cNvPr id="25" name="Text 22"/>
          <p:cNvSpPr/>
          <p:nvPr/>
        </p:nvSpPr>
        <p:spPr>
          <a:xfrm>
            <a:off x="7882057" y="3355181"/>
            <a:ext cx="1205627" cy="288131"/>
          </a:xfrm>
          <a:prstGeom prst="rect">
            <a:avLst/>
          </a:prstGeom>
          <a:noFill/>
          <a:ln/>
        </p:spPr>
        <p:txBody>
          <a:bodyPr wrap="none" lIns="0" tIns="0" rIns="0" bIns="0" rtlCol="0" anchor="t"/>
          <a:lstStyle/>
          <a:p>
            <a:pPr marL="0" indent="0">
              <a:lnSpc>
                <a:spcPts val="2250"/>
              </a:lnSpc>
              <a:buNone/>
            </a:pPr>
            <a:r>
              <a:rPr lang="en-US" sz="1400" kern="0" spc="-28" dirty="0">
                <a:solidFill>
                  <a:srgbClr val="272525"/>
                </a:solidFill>
                <a:latin typeface="Inter" pitchFamily="34" charset="0"/>
                <a:ea typeface="Inter" pitchFamily="34" charset="-122"/>
                <a:cs typeface="Inter" pitchFamily="34" charset="-120"/>
              </a:rPr>
              <a:t>75.56%</a:t>
            </a:r>
            <a:endParaRPr lang="en-US" sz="1400" dirty="0"/>
          </a:p>
        </p:txBody>
      </p:sp>
      <p:sp>
        <p:nvSpPr>
          <p:cNvPr id="26" name="Text 23"/>
          <p:cNvSpPr/>
          <p:nvPr/>
        </p:nvSpPr>
        <p:spPr>
          <a:xfrm>
            <a:off x="9455587" y="3355181"/>
            <a:ext cx="1205627" cy="288131"/>
          </a:xfrm>
          <a:prstGeom prst="rect">
            <a:avLst/>
          </a:prstGeom>
          <a:noFill/>
          <a:ln/>
        </p:spPr>
        <p:txBody>
          <a:bodyPr wrap="none" lIns="0" tIns="0" rIns="0" bIns="0" rtlCol="0" anchor="t"/>
          <a:lstStyle/>
          <a:p>
            <a:pPr marL="0" indent="0">
              <a:lnSpc>
                <a:spcPts val="2250"/>
              </a:lnSpc>
              <a:buNone/>
            </a:pPr>
            <a:r>
              <a:rPr lang="en-US" sz="1400" kern="0" spc="-28" dirty="0">
                <a:solidFill>
                  <a:srgbClr val="272525"/>
                </a:solidFill>
                <a:latin typeface="Inter" pitchFamily="34" charset="0"/>
                <a:ea typeface="Inter" pitchFamily="34" charset="-122"/>
                <a:cs typeface="Inter" pitchFamily="34" charset="-120"/>
              </a:rPr>
              <a:t>64.14%</a:t>
            </a:r>
            <a:endParaRPr lang="en-US" sz="1400" dirty="0"/>
          </a:p>
        </p:txBody>
      </p:sp>
      <p:sp>
        <p:nvSpPr>
          <p:cNvPr id="27" name="Text 24"/>
          <p:cNvSpPr/>
          <p:nvPr/>
        </p:nvSpPr>
        <p:spPr>
          <a:xfrm>
            <a:off x="11029117" y="3355181"/>
            <a:ext cx="1205627" cy="288131"/>
          </a:xfrm>
          <a:prstGeom prst="rect">
            <a:avLst/>
          </a:prstGeom>
          <a:noFill/>
          <a:ln/>
        </p:spPr>
        <p:txBody>
          <a:bodyPr wrap="none" lIns="0" tIns="0" rIns="0" bIns="0" rtlCol="0" anchor="t"/>
          <a:lstStyle/>
          <a:p>
            <a:pPr marL="0" indent="0">
              <a:lnSpc>
                <a:spcPts val="2250"/>
              </a:lnSpc>
              <a:buNone/>
            </a:pPr>
            <a:r>
              <a:rPr lang="en-US" sz="1400" kern="0" spc="-28" dirty="0">
                <a:solidFill>
                  <a:srgbClr val="272525"/>
                </a:solidFill>
                <a:latin typeface="Inter" pitchFamily="34" charset="0"/>
                <a:ea typeface="Inter" pitchFamily="34" charset="-122"/>
                <a:cs typeface="Inter" pitchFamily="34" charset="-120"/>
              </a:rPr>
              <a:t>86.58%</a:t>
            </a:r>
            <a:endParaRPr lang="en-US" sz="1400" dirty="0"/>
          </a:p>
        </p:txBody>
      </p:sp>
      <p:sp>
        <p:nvSpPr>
          <p:cNvPr id="28" name="Text 25"/>
          <p:cNvSpPr/>
          <p:nvPr/>
        </p:nvSpPr>
        <p:spPr>
          <a:xfrm>
            <a:off x="12602647" y="3355181"/>
            <a:ext cx="1209437" cy="288131"/>
          </a:xfrm>
          <a:prstGeom prst="rect">
            <a:avLst/>
          </a:prstGeom>
          <a:noFill/>
          <a:ln/>
        </p:spPr>
        <p:txBody>
          <a:bodyPr wrap="none" lIns="0" tIns="0" rIns="0" bIns="0" rtlCol="0" anchor="t"/>
          <a:lstStyle/>
          <a:p>
            <a:pPr marL="0" indent="0">
              <a:lnSpc>
                <a:spcPts val="2250"/>
              </a:lnSpc>
              <a:buNone/>
            </a:pPr>
            <a:r>
              <a:rPr lang="en-US" sz="1400" kern="0" spc="-28" dirty="0">
                <a:solidFill>
                  <a:srgbClr val="272525"/>
                </a:solidFill>
                <a:latin typeface="Inter" pitchFamily="34" charset="0"/>
                <a:ea typeface="Inter" pitchFamily="34" charset="-122"/>
                <a:cs typeface="Inter" pitchFamily="34" charset="-120"/>
              </a:rPr>
              <a:t>81.88%</a:t>
            </a:r>
            <a:endParaRPr lang="en-US" sz="1400" dirty="0"/>
          </a:p>
        </p:txBody>
      </p:sp>
      <p:sp>
        <p:nvSpPr>
          <p:cNvPr id="29" name="Shape 26"/>
          <p:cNvSpPr/>
          <p:nvPr/>
        </p:nvSpPr>
        <p:spPr>
          <a:xfrm>
            <a:off x="6124575" y="3758922"/>
            <a:ext cx="7867650" cy="519351"/>
          </a:xfrm>
          <a:prstGeom prst="rect">
            <a:avLst/>
          </a:prstGeom>
          <a:solidFill>
            <a:srgbClr val="FFFFFF">
              <a:alpha val="4000"/>
            </a:srgbClr>
          </a:solidFill>
          <a:ln/>
        </p:spPr>
        <p:txBody>
          <a:bodyPr/>
          <a:lstStyle/>
          <a:p>
            <a:endParaRPr lang="en-US"/>
          </a:p>
        </p:txBody>
      </p:sp>
      <p:sp>
        <p:nvSpPr>
          <p:cNvPr id="30" name="Text 27"/>
          <p:cNvSpPr/>
          <p:nvPr/>
        </p:nvSpPr>
        <p:spPr>
          <a:xfrm>
            <a:off x="6304717" y="3874532"/>
            <a:ext cx="1209437" cy="288131"/>
          </a:xfrm>
          <a:prstGeom prst="rect">
            <a:avLst/>
          </a:prstGeom>
          <a:noFill/>
          <a:ln/>
        </p:spPr>
        <p:txBody>
          <a:bodyPr wrap="none" lIns="0" tIns="0" rIns="0" bIns="0" rtlCol="0" anchor="t"/>
          <a:lstStyle/>
          <a:p>
            <a:pPr marL="0" indent="0">
              <a:lnSpc>
                <a:spcPts val="2250"/>
              </a:lnSpc>
              <a:buNone/>
            </a:pPr>
            <a:r>
              <a:rPr lang="en-US" sz="1400" kern="0" spc="-28" dirty="0">
                <a:solidFill>
                  <a:srgbClr val="272525"/>
                </a:solidFill>
                <a:latin typeface="Inter" pitchFamily="34" charset="0"/>
                <a:ea typeface="Inter" pitchFamily="34" charset="-122"/>
                <a:cs typeface="Inter" pitchFamily="34" charset="-120"/>
              </a:rPr>
              <a:t>GFI</a:t>
            </a:r>
            <a:endParaRPr lang="en-US" sz="1400" dirty="0"/>
          </a:p>
        </p:txBody>
      </p:sp>
      <p:sp>
        <p:nvSpPr>
          <p:cNvPr id="31" name="Text 28"/>
          <p:cNvSpPr/>
          <p:nvPr/>
        </p:nvSpPr>
        <p:spPr>
          <a:xfrm>
            <a:off x="7882057" y="3874532"/>
            <a:ext cx="1205627" cy="288131"/>
          </a:xfrm>
          <a:prstGeom prst="rect">
            <a:avLst/>
          </a:prstGeom>
          <a:noFill/>
          <a:ln/>
        </p:spPr>
        <p:txBody>
          <a:bodyPr wrap="none" lIns="0" tIns="0" rIns="0" bIns="0" rtlCol="0" anchor="t"/>
          <a:lstStyle/>
          <a:p>
            <a:pPr marL="0" indent="0">
              <a:lnSpc>
                <a:spcPts val="2250"/>
              </a:lnSpc>
              <a:buNone/>
            </a:pPr>
            <a:r>
              <a:rPr lang="en-US" sz="1400" kern="0" spc="-28" dirty="0">
                <a:solidFill>
                  <a:srgbClr val="272525"/>
                </a:solidFill>
                <a:latin typeface="Inter" pitchFamily="34" charset="0"/>
                <a:ea typeface="Inter" pitchFamily="34" charset="-122"/>
                <a:cs typeface="Inter" pitchFamily="34" charset="-120"/>
              </a:rPr>
              <a:t>36.23%</a:t>
            </a:r>
            <a:endParaRPr lang="en-US" sz="1400" dirty="0"/>
          </a:p>
        </p:txBody>
      </p:sp>
      <p:sp>
        <p:nvSpPr>
          <p:cNvPr id="32" name="Text 29"/>
          <p:cNvSpPr/>
          <p:nvPr/>
        </p:nvSpPr>
        <p:spPr>
          <a:xfrm>
            <a:off x="9455587" y="3874532"/>
            <a:ext cx="1205627" cy="288131"/>
          </a:xfrm>
          <a:prstGeom prst="rect">
            <a:avLst/>
          </a:prstGeom>
          <a:noFill/>
          <a:ln/>
        </p:spPr>
        <p:txBody>
          <a:bodyPr wrap="none" lIns="0" tIns="0" rIns="0" bIns="0" rtlCol="0" anchor="t"/>
          <a:lstStyle/>
          <a:p>
            <a:pPr marL="0" indent="0">
              <a:lnSpc>
                <a:spcPts val="2250"/>
              </a:lnSpc>
              <a:buNone/>
            </a:pPr>
            <a:r>
              <a:rPr lang="en-US" sz="1400" kern="0" spc="-28" dirty="0">
                <a:solidFill>
                  <a:srgbClr val="272525"/>
                </a:solidFill>
                <a:latin typeface="Inter" pitchFamily="34" charset="0"/>
                <a:ea typeface="Inter" pitchFamily="34" charset="-122"/>
                <a:cs typeface="Inter" pitchFamily="34" charset="-120"/>
              </a:rPr>
              <a:t>61.39%</a:t>
            </a:r>
            <a:endParaRPr lang="en-US" sz="1400" dirty="0"/>
          </a:p>
        </p:txBody>
      </p:sp>
      <p:sp>
        <p:nvSpPr>
          <p:cNvPr id="33" name="Text 30"/>
          <p:cNvSpPr/>
          <p:nvPr/>
        </p:nvSpPr>
        <p:spPr>
          <a:xfrm>
            <a:off x="11029117" y="3874532"/>
            <a:ext cx="1205627" cy="288131"/>
          </a:xfrm>
          <a:prstGeom prst="rect">
            <a:avLst/>
          </a:prstGeom>
          <a:noFill/>
          <a:ln/>
        </p:spPr>
        <p:txBody>
          <a:bodyPr wrap="none" lIns="0" tIns="0" rIns="0" bIns="0" rtlCol="0" anchor="t"/>
          <a:lstStyle/>
          <a:p>
            <a:pPr marL="0" indent="0">
              <a:lnSpc>
                <a:spcPts val="2250"/>
              </a:lnSpc>
              <a:buNone/>
            </a:pPr>
            <a:r>
              <a:rPr lang="en-US" sz="1400" kern="0" spc="-28" dirty="0">
                <a:solidFill>
                  <a:srgbClr val="272525"/>
                </a:solidFill>
                <a:latin typeface="Inter" pitchFamily="34" charset="0"/>
                <a:ea typeface="Inter" pitchFamily="34" charset="-122"/>
                <a:cs typeface="Inter" pitchFamily="34" charset="-120"/>
              </a:rPr>
              <a:t>45.64%</a:t>
            </a:r>
            <a:endParaRPr lang="en-US" sz="1400" dirty="0"/>
          </a:p>
        </p:txBody>
      </p:sp>
      <p:sp>
        <p:nvSpPr>
          <p:cNvPr id="34" name="Text 31"/>
          <p:cNvSpPr/>
          <p:nvPr/>
        </p:nvSpPr>
        <p:spPr>
          <a:xfrm>
            <a:off x="12602647" y="3874532"/>
            <a:ext cx="1209437" cy="288131"/>
          </a:xfrm>
          <a:prstGeom prst="rect">
            <a:avLst/>
          </a:prstGeom>
          <a:noFill/>
          <a:ln/>
        </p:spPr>
        <p:txBody>
          <a:bodyPr wrap="none" lIns="0" tIns="0" rIns="0" bIns="0" rtlCol="0" anchor="t"/>
          <a:lstStyle/>
          <a:p>
            <a:pPr marL="0" indent="0">
              <a:lnSpc>
                <a:spcPts val="2250"/>
              </a:lnSpc>
              <a:buNone/>
            </a:pPr>
            <a:r>
              <a:rPr lang="en-US" sz="1400" kern="0" spc="-28" dirty="0">
                <a:solidFill>
                  <a:srgbClr val="272525"/>
                </a:solidFill>
                <a:latin typeface="Inter" pitchFamily="34" charset="0"/>
                <a:ea typeface="Inter" pitchFamily="34" charset="-122"/>
                <a:cs typeface="Inter" pitchFamily="34" charset="-120"/>
              </a:rPr>
              <a:t>77.70%</a:t>
            </a:r>
            <a:endParaRPr lang="en-US" sz="1400" dirty="0"/>
          </a:p>
        </p:txBody>
      </p:sp>
      <p:sp>
        <p:nvSpPr>
          <p:cNvPr id="35" name="Shape 32"/>
          <p:cNvSpPr/>
          <p:nvPr/>
        </p:nvSpPr>
        <p:spPr>
          <a:xfrm>
            <a:off x="6116955" y="4488537"/>
            <a:ext cx="7882890" cy="3188256"/>
          </a:xfrm>
          <a:prstGeom prst="roundRect">
            <a:avLst>
              <a:gd name="adj" fmla="val 2374"/>
            </a:avLst>
          </a:prstGeom>
          <a:noFill/>
          <a:ln w="7620">
            <a:solidFill>
              <a:srgbClr val="000000">
                <a:alpha val="8000"/>
              </a:srgbClr>
            </a:solidFill>
            <a:prstDash val="solid"/>
          </a:ln>
        </p:spPr>
        <p:txBody>
          <a:bodyPr/>
          <a:lstStyle/>
          <a:p>
            <a:endParaRPr lang="en-US"/>
          </a:p>
        </p:txBody>
      </p:sp>
      <p:sp>
        <p:nvSpPr>
          <p:cNvPr id="36" name="Shape 33"/>
          <p:cNvSpPr/>
          <p:nvPr/>
        </p:nvSpPr>
        <p:spPr>
          <a:xfrm>
            <a:off x="6124575" y="4496157"/>
            <a:ext cx="7867650" cy="1095613"/>
          </a:xfrm>
          <a:prstGeom prst="rect">
            <a:avLst/>
          </a:prstGeom>
          <a:solidFill>
            <a:srgbClr val="FFFFFF">
              <a:alpha val="4000"/>
            </a:srgbClr>
          </a:solidFill>
          <a:ln/>
        </p:spPr>
        <p:txBody>
          <a:bodyPr/>
          <a:lstStyle/>
          <a:p>
            <a:endParaRPr lang="en-US"/>
          </a:p>
        </p:txBody>
      </p:sp>
      <p:sp>
        <p:nvSpPr>
          <p:cNvPr id="37" name="Text 34"/>
          <p:cNvSpPr/>
          <p:nvPr/>
        </p:nvSpPr>
        <p:spPr>
          <a:xfrm>
            <a:off x="6304717" y="4611767"/>
            <a:ext cx="1209437" cy="288131"/>
          </a:xfrm>
          <a:prstGeom prst="rect">
            <a:avLst/>
          </a:prstGeom>
          <a:noFill/>
          <a:ln/>
        </p:spPr>
        <p:txBody>
          <a:bodyPr wrap="none" lIns="0" tIns="0" rIns="0" bIns="0" rtlCol="0" anchor="t"/>
          <a:lstStyle/>
          <a:p>
            <a:pPr marL="0" indent="0">
              <a:lnSpc>
                <a:spcPts val="2250"/>
              </a:lnSpc>
              <a:buNone/>
            </a:pPr>
            <a:endParaRPr lang="en-US" sz="1400" dirty="0"/>
          </a:p>
        </p:txBody>
      </p:sp>
      <p:sp>
        <p:nvSpPr>
          <p:cNvPr id="38" name="Text 35"/>
          <p:cNvSpPr/>
          <p:nvPr/>
        </p:nvSpPr>
        <p:spPr>
          <a:xfrm>
            <a:off x="7882057" y="4611767"/>
            <a:ext cx="1205627" cy="288131"/>
          </a:xfrm>
          <a:prstGeom prst="rect">
            <a:avLst/>
          </a:prstGeom>
          <a:noFill/>
          <a:ln/>
        </p:spPr>
        <p:txBody>
          <a:bodyPr wrap="none" lIns="0" tIns="0" rIns="0" bIns="0" rtlCol="0" anchor="t"/>
          <a:lstStyle/>
          <a:p>
            <a:pPr marL="0" indent="0">
              <a:lnSpc>
                <a:spcPts val="2250"/>
              </a:lnSpc>
              <a:buNone/>
            </a:pPr>
            <a:endParaRPr lang="en-US" sz="1400" dirty="0"/>
          </a:p>
        </p:txBody>
      </p:sp>
      <p:sp>
        <p:nvSpPr>
          <p:cNvPr id="39" name="Text 36"/>
          <p:cNvSpPr/>
          <p:nvPr/>
        </p:nvSpPr>
        <p:spPr>
          <a:xfrm>
            <a:off x="9455587" y="4611767"/>
            <a:ext cx="1205627" cy="288131"/>
          </a:xfrm>
          <a:prstGeom prst="rect">
            <a:avLst/>
          </a:prstGeom>
          <a:noFill/>
          <a:ln/>
        </p:spPr>
        <p:txBody>
          <a:bodyPr wrap="none" lIns="0" tIns="0" rIns="0" bIns="0" rtlCol="0" anchor="t"/>
          <a:lstStyle/>
          <a:p>
            <a:pPr marL="0" indent="0">
              <a:lnSpc>
                <a:spcPts val="2250"/>
              </a:lnSpc>
              <a:buNone/>
            </a:pPr>
            <a:endParaRPr lang="en-US" sz="1400" dirty="0"/>
          </a:p>
        </p:txBody>
      </p:sp>
      <p:sp>
        <p:nvSpPr>
          <p:cNvPr id="40" name="Text 37"/>
          <p:cNvSpPr/>
          <p:nvPr/>
        </p:nvSpPr>
        <p:spPr>
          <a:xfrm>
            <a:off x="8249960" y="4819411"/>
            <a:ext cx="1205627" cy="864394"/>
          </a:xfrm>
          <a:prstGeom prst="rect">
            <a:avLst/>
          </a:prstGeom>
          <a:noFill/>
          <a:ln/>
        </p:spPr>
        <p:txBody>
          <a:bodyPr wrap="square" lIns="0" tIns="0" rIns="0" bIns="0" rtlCol="0" anchor="t"/>
          <a:lstStyle/>
          <a:p>
            <a:pPr marL="0" indent="0">
              <a:lnSpc>
                <a:spcPts val="2250"/>
              </a:lnSpc>
              <a:buNone/>
            </a:pPr>
            <a:r>
              <a:rPr lang="en-US" sz="1400" kern="0" spc="-28" dirty="0">
                <a:solidFill>
                  <a:srgbClr val="272525"/>
                </a:solidFill>
                <a:latin typeface="Inter" pitchFamily="34" charset="0"/>
                <a:ea typeface="Inter" pitchFamily="34" charset="-122"/>
                <a:cs typeface="Inter" pitchFamily="34" charset="-120"/>
              </a:rPr>
              <a:t>AVERAGE ENTROPY LOSS</a:t>
            </a:r>
            <a:endParaRPr lang="en-US" sz="1400" dirty="0"/>
          </a:p>
        </p:txBody>
      </p:sp>
      <p:sp>
        <p:nvSpPr>
          <p:cNvPr id="41" name="Text 38"/>
          <p:cNvSpPr/>
          <p:nvPr/>
        </p:nvSpPr>
        <p:spPr>
          <a:xfrm>
            <a:off x="11580972" y="4749097"/>
            <a:ext cx="1209437" cy="864394"/>
          </a:xfrm>
          <a:prstGeom prst="rect">
            <a:avLst/>
          </a:prstGeom>
          <a:noFill/>
          <a:ln/>
        </p:spPr>
        <p:txBody>
          <a:bodyPr wrap="square" lIns="0" tIns="0" rIns="0" bIns="0" rtlCol="0" anchor="t"/>
          <a:lstStyle/>
          <a:p>
            <a:pPr marL="0" indent="0">
              <a:lnSpc>
                <a:spcPts val="2250"/>
              </a:lnSpc>
              <a:buNone/>
            </a:pPr>
            <a:r>
              <a:rPr lang="en-US" sz="1400" kern="0" spc="-28" dirty="0">
                <a:solidFill>
                  <a:srgbClr val="272525"/>
                </a:solidFill>
                <a:latin typeface="Inter" pitchFamily="34" charset="0"/>
                <a:ea typeface="Inter" pitchFamily="34" charset="-122"/>
                <a:cs typeface="Inter" pitchFamily="34" charset="-120"/>
              </a:rPr>
              <a:t>MINIMUM ENTROPY LOSS</a:t>
            </a:r>
            <a:endParaRPr lang="en-US" sz="1400" dirty="0"/>
          </a:p>
        </p:txBody>
      </p:sp>
      <p:sp>
        <p:nvSpPr>
          <p:cNvPr id="42" name="Shape 39"/>
          <p:cNvSpPr/>
          <p:nvPr/>
        </p:nvSpPr>
        <p:spPr>
          <a:xfrm>
            <a:off x="6124575" y="5591770"/>
            <a:ext cx="7867650" cy="519351"/>
          </a:xfrm>
          <a:prstGeom prst="rect">
            <a:avLst/>
          </a:prstGeom>
          <a:solidFill>
            <a:srgbClr val="000000">
              <a:alpha val="4000"/>
            </a:srgbClr>
          </a:solidFill>
          <a:ln/>
        </p:spPr>
        <p:txBody>
          <a:bodyPr/>
          <a:lstStyle/>
          <a:p>
            <a:endParaRPr lang="en-US"/>
          </a:p>
        </p:txBody>
      </p:sp>
      <p:sp>
        <p:nvSpPr>
          <p:cNvPr id="43" name="Text 40"/>
          <p:cNvSpPr/>
          <p:nvPr/>
        </p:nvSpPr>
        <p:spPr>
          <a:xfrm>
            <a:off x="6304717" y="5707380"/>
            <a:ext cx="1209437" cy="288131"/>
          </a:xfrm>
          <a:prstGeom prst="rect">
            <a:avLst/>
          </a:prstGeom>
          <a:noFill/>
          <a:ln/>
        </p:spPr>
        <p:txBody>
          <a:bodyPr wrap="none" lIns="0" tIns="0" rIns="0" bIns="0" rtlCol="0" anchor="t"/>
          <a:lstStyle/>
          <a:p>
            <a:pPr marL="0" indent="0">
              <a:lnSpc>
                <a:spcPts val="2250"/>
              </a:lnSpc>
              <a:buNone/>
            </a:pPr>
            <a:endParaRPr lang="en-US" sz="1400" dirty="0"/>
          </a:p>
        </p:txBody>
      </p:sp>
      <p:sp>
        <p:nvSpPr>
          <p:cNvPr id="44" name="Text 41"/>
          <p:cNvSpPr/>
          <p:nvPr/>
        </p:nvSpPr>
        <p:spPr>
          <a:xfrm>
            <a:off x="7882057" y="5707380"/>
            <a:ext cx="1205627" cy="288131"/>
          </a:xfrm>
          <a:prstGeom prst="rect">
            <a:avLst/>
          </a:prstGeom>
          <a:noFill/>
          <a:ln/>
        </p:spPr>
        <p:txBody>
          <a:bodyPr wrap="none" lIns="0" tIns="0" rIns="0" bIns="0" rtlCol="0" anchor="t"/>
          <a:lstStyle/>
          <a:p>
            <a:pPr marL="0" indent="0">
              <a:lnSpc>
                <a:spcPts val="2250"/>
              </a:lnSpc>
              <a:buNone/>
            </a:pPr>
            <a:r>
              <a:rPr lang="en-US" sz="1400" kern="0" spc="-28" dirty="0">
                <a:solidFill>
                  <a:srgbClr val="272525"/>
                </a:solidFill>
                <a:latin typeface="Inter" pitchFamily="34" charset="0"/>
                <a:ea typeface="Inter" pitchFamily="34" charset="-122"/>
                <a:cs typeface="Inter" pitchFamily="34" charset="-120"/>
              </a:rPr>
              <a:t>MOBILENETv2</a:t>
            </a:r>
            <a:endParaRPr lang="en-US" sz="1400" dirty="0"/>
          </a:p>
        </p:txBody>
      </p:sp>
      <p:sp>
        <p:nvSpPr>
          <p:cNvPr id="45" name="Text 42"/>
          <p:cNvSpPr/>
          <p:nvPr/>
        </p:nvSpPr>
        <p:spPr>
          <a:xfrm>
            <a:off x="9455587" y="5707380"/>
            <a:ext cx="1205627" cy="288131"/>
          </a:xfrm>
          <a:prstGeom prst="rect">
            <a:avLst/>
          </a:prstGeom>
          <a:noFill/>
          <a:ln/>
        </p:spPr>
        <p:txBody>
          <a:bodyPr wrap="none" lIns="0" tIns="0" rIns="0" bIns="0" rtlCol="0" anchor="t"/>
          <a:lstStyle/>
          <a:p>
            <a:pPr marL="0" indent="0">
              <a:lnSpc>
                <a:spcPts val="2250"/>
              </a:lnSpc>
              <a:buNone/>
            </a:pPr>
            <a:r>
              <a:rPr lang="en-US" sz="1400" kern="0" spc="-28" dirty="0">
                <a:solidFill>
                  <a:srgbClr val="272525"/>
                </a:solidFill>
                <a:latin typeface="Inter" pitchFamily="34" charset="0"/>
                <a:ea typeface="Inter" pitchFamily="34" charset="-122"/>
                <a:cs typeface="Inter" pitchFamily="34" charset="-120"/>
              </a:rPr>
              <a:t>CNN</a:t>
            </a:r>
            <a:endParaRPr lang="en-US" sz="1400" dirty="0"/>
          </a:p>
        </p:txBody>
      </p:sp>
      <p:sp>
        <p:nvSpPr>
          <p:cNvPr id="46" name="Text 43"/>
          <p:cNvSpPr/>
          <p:nvPr/>
        </p:nvSpPr>
        <p:spPr>
          <a:xfrm>
            <a:off x="11029117" y="5707380"/>
            <a:ext cx="1205627" cy="288131"/>
          </a:xfrm>
          <a:prstGeom prst="rect">
            <a:avLst/>
          </a:prstGeom>
          <a:noFill/>
          <a:ln/>
        </p:spPr>
        <p:txBody>
          <a:bodyPr wrap="none" lIns="0" tIns="0" rIns="0" bIns="0" rtlCol="0" anchor="t"/>
          <a:lstStyle/>
          <a:p>
            <a:pPr marL="0" indent="0">
              <a:lnSpc>
                <a:spcPts val="2250"/>
              </a:lnSpc>
              <a:buNone/>
            </a:pPr>
            <a:r>
              <a:rPr lang="en-US" sz="1400" kern="0" spc="-28" dirty="0">
                <a:solidFill>
                  <a:srgbClr val="272525"/>
                </a:solidFill>
                <a:latin typeface="Inter" pitchFamily="34" charset="0"/>
                <a:ea typeface="Inter" pitchFamily="34" charset="-122"/>
                <a:cs typeface="Inter" pitchFamily="34" charset="-120"/>
              </a:rPr>
              <a:t>MOBILENETv2</a:t>
            </a:r>
            <a:endParaRPr lang="en-US" sz="1400" dirty="0"/>
          </a:p>
        </p:txBody>
      </p:sp>
      <p:sp>
        <p:nvSpPr>
          <p:cNvPr id="47" name="Text 44"/>
          <p:cNvSpPr/>
          <p:nvPr/>
        </p:nvSpPr>
        <p:spPr>
          <a:xfrm>
            <a:off x="12602647" y="5707380"/>
            <a:ext cx="1209437" cy="288131"/>
          </a:xfrm>
          <a:prstGeom prst="rect">
            <a:avLst/>
          </a:prstGeom>
          <a:noFill/>
          <a:ln/>
        </p:spPr>
        <p:txBody>
          <a:bodyPr wrap="none" lIns="0" tIns="0" rIns="0" bIns="0" rtlCol="0" anchor="t"/>
          <a:lstStyle/>
          <a:p>
            <a:pPr marL="0" indent="0">
              <a:lnSpc>
                <a:spcPts val="2250"/>
              </a:lnSpc>
              <a:buNone/>
            </a:pPr>
            <a:r>
              <a:rPr lang="en-US" sz="1400" kern="0" spc="-28" dirty="0">
                <a:solidFill>
                  <a:srgbClr val="272525"/>
                </a:solidFill>
                <a:latin typeface="Inter" pitchFamily="34" charset="0"/>
                <a:ea typeface="Inter" pitchFamily="34" charset="-122"/>
                <a:cs typeface="Inter" pitchFamily="34" charset="-120"/>
              </a:rPr>
              <a:t>CNN</a:t>
            </a:r>
            <a:endParaRPr lang="en-US" sz="1400" dirty="0"/>
          </a:p>
        </p:txBody>
      </p:sp>
      <p:sp>
        <p:nvSpPr>
          <p:cNvPr id="48" name="Shape 45"/>
          <p:cNvSpPr/>
          <p:nvPr/>
        </p:nvSpPr>
        <p:spPr>
          <a:xfrm>
            <a:off x="6124575" y="6111121"/>
            <a:ext cx="7867650" cy="519351"/>
          </a:xfrm>
          <a:prstGeom prst="rect">
            <a:avLst/>
          </a:prstGeom>
          <a:solidFill>
            <a:srgbClr val="FFFFFF">
              <a:alpha val="4000"/>
            </a:srgbClr>
          </a:solidFill>
          <a:ln/>
        </p:spPr>
        <p:txBody>
          <a:bodyPr/>
          <a:lstStyle/>
          <a:p>
            <a:endParaRPr lang="en-US"/>
          </a:p>
        </p:txBody>
      </p:sp>
      <p:sp>
        <p:nvSpPr>
          <p:cNvPr id="49" name="Text 46"/>
          <p:cNvSpPr/>
          <p:nvPr/>
        </p:nvSpPr>
        <p:spPr>
          <a:xfrm>
            <a:off x="6304717" y="6226731"/>
            <a:ext cx="1209437" cy="288131"/>
          </a:xfrm>
          <a:prstGeom prst="rect">
            <a:avLst/>
          </a:prstGeom>
          <a:noFill/>
          <a:ln/>
        </p:spPr>
        <p:txBody>
          <a:bodyPr wrap="none" lIns="0" tIns="0" rIns="0" bIns="0" rtlCol="0" anchor="t"/>
          <a:lstStyle/>
          <a:p>
            <a:pPr marL="0" indent="0">
              <a:lnSpc>
                <a:spcPts val="2250"/>
              </a:lnSpc>
              <a:buNone/>
            </a:pPr>
            <a:r>
              <a:rPr lang="en-US" sz="1400" kern="0" spc="-28" dirty="0">
                <a:solidFill>
                  <a:srgbClr val="272525"/>
                </a:solidFill>
                <a:latin typeface="Inter" pitchFamily="34" charset="0"/>
                <a:ea typeface="Inter" pitchFamily="34" charset="-122"/>
                <a:cs typeface="Inter" pitchFamily="34" charset="-120"/>
              </a:rPr>
              <a:t>GEI</a:t>
            </a:r>
            <a:endParaRPr lang="en-US" sz="1400" dirty="0"/>
          </a:p>
        </p:txBody>
      </p:sp>
      <p:sp>
        <p:nvSpPr>
          <p:cNvPr id="50" name="Text 47"/>
          <p:cNvSpPr/>
          <p:nvPr/>
        </p:nvSpPr>
        <p:spPr>
          <a:xfrm>
            <a:off x="7882057" y="6226731"/>
            <a:ext cx="1205627" cy="288131"/>
          </a:xfrm>
          <a:prstGeom prst="rect">
            <a:avLst/>
          </a:prstGeom>
          <a:noFill/>
          <a:ln/>
        </p:spPr>
        <p:txBody>
          <a:bodyPr wrap="none" lIns="0" tIns="0" rIns="0" bIns="0" rtlCol="0" anchor="t"/>
          <a:lstStyle/>
          <a:p>
            <a:pPr marL="0" indent="0">
              <a:lnSpc>
                <a:spcPts val="2250"/>
              </a:lnSpc>
              <a:buNone/>
            </a:pPr>
            <a:r>
              <a:rPr lang="en-US" sz="1400" kern="0" spc="-28" dirty="0">
                <a:solidFill>
                  <a:srgbClr val="272525"/>
                </a:solidFill>
                <a:latin typeface="Inter" pitchFamily="34" charset="0"/>
                <a:ea typeface="Inter" pitchFamily="34" charset="-122"/>
                <a:cs typeface="Inter" pitchFamily="34" charset="-120"/>
              </a:rPr>
              <a:t>1.24</a:t>
            </a:r>
            <a:endParaRPr lang="en-US" sz="1400" dirty="0"/>
          </a:p>
        </p:txBody>
      </p:sp>
      <p:sp>
        <p:nvSpPr>
          <p:cNvPr id="51" name="Text 48"/>
          <p:cNvSpPr/>
          <p:nvPr/>
        </p:nvSpPr>
        <p:spPr>
          <a:xfrm>
            <a:off x="9455587" y="6226731"/>
            <a:ext cx="1205627" cy="288131"/>
          </a:xfrm>
          <a:prstGeom prst="rect">
            <a:avLst/>
          </a:prstGeom>
          <a:noFill/>
          <a:ln/>
        </p:spPr>
        <p:txBody>
          <a:bodyPr wrap="none" lIns="0" tIns="0" rIns="0" bIns="0" rtlCol="0" anchor="t"/>
          <a:lstStyle/>
          <a:p>
            <a:pPr marL="0" indent="0">
              <a:lnSpc>
                <a:spcPts val="2250"/>
              </a:lnSpc>
              <a:buNone/>
            </a:pPr>
            <a:r>
              <a:rPr lang="en-US" sz="1400" kern="0" spc="-28" dirty="0">
                <a:solidFill>
                  <a:srgbClr val="272525"/>
                </a:solidFill>
                <a:latin typeface="Inter" pitchFamily="34" charset="0"/>
                <a:ea typeface="Inter" pitchFamily="34" charset="-122"/>
                <a:cs typeface="Inter" pitchFamily="34" charset="-120"/>
              </a:rPr>
              <a:t>2.12</a:t>
            </a:r>
            <a:endParaRPr lang="en-US" sz="1400" dirty="0"/>
          </a:p>
        </p:txBody>
      </p:sp>
      <p:sp>
        <p:nvSpPr>
          <p:cNvPr id="52" name="Text 49"/>
          <p:cNvSpPr/>
          <p:nvPr/>
        </p:nvSpPr>
        <p:spPr>
          <a:xfrm>
            <a:off x="11029117" y="6226731"/>
            <a:ext cx="1205627" cy="288131"/>
          </a:xfrm>
          <a:prstGeom prst="rect">
            <a:avLst/>
          </a:prstGeom>
          <a:noFill/>
          <a:ln/>
        </p:spPr>
        <p:txBody>
          <a:bodyPr wrap="none" lIns="0" tIns="0" rIns="0" bIns="0" rtlCol="0" anchor="t"/>
          <a:lstStyle/>
          <a:p>
            <a:pPr marL="0" indent="0">
              <a:lnSpc>
                <a:spcPts val="2250"/>
              </a:lnSpc>
              <a:buNone/>
            </a:pPr>
            <a:r>
              <a:rPr lang="en-US" sz="1400" kern="0" spc="-28" dirty="0">
                <a:solidFill>
                  <a:srgbClr val="272525"/>
                </a:solidFill>
                <a:latin typeface="Inter" pitchFamily="34" charset="0"/>
                <a:ea typeface="Inter" pitchFamily="34" charset="-122"/>
                <a:cs typeface="Inter" pitchFamily="34" charset="-120"/>
              </a:rPr>
              <a:t>0.79</a:t>
            </a:r>
            <a:endParaRPr lang="en-US" sz="1400" dirty="0"/>
          </a:p>
        </p:txBody>
      </p:sp>
      <p:sp>
        <p:nvSpPr>
          <p:cNvPr id="53" name="Text 50"/>
          <p:cNvSpPr/>
          <p:nvPr/>
        </p:nvSpPr>
        <p:spPr>
          <a:xfrm>
            <a:off x="12602647" y="6226731"/>
            <a:ext cx="1209437" cy="288131"/>
          </a:xfrm>
          <a:prstGeom prst="rect">
            <a:avLst/>
          </a:prstGeom>
          <a:noFill/>
          <a:ln/>
        </p:spPr>
        <p:txBody>
          <a:bodyPr wrap="none" lIns="0" tIns="0" rIns="0" bIns="0" rtlCol="0" anchor="t"/>
          <a:lstStyle/>
          <a:p>
            <a:pPr marL="0" indent="0">
              <a:lnSpc>
                <a:spcPts val="2250"/>
              </a:lnSpc>
              <a:buNone/>
            </a:pPr>
            <a:r>
              <a:rPr lang="en-US" sz="1400" kern="0" spc="-28" dirty="0">
                <a:solidFill>
                  <a:srgbClr val="272525"/>
                </a:solidFill>
                <a:latin typeface="Inter" pitchFamily="34" charset="0"/>
                <a:ea typeface="Inter" pitchFamily="34" charset="-122"/>
                <a:cs typeface="Inter" pitchFamily="34" charset="-120"/>
              </a:rPr>
              <a:t>0.84</a:t>
            </a:r>
            <a:endParaRPr lang="en-US" sz="1400" dirty="0"/>
          </a:p>
        </p:txBody>
      </p:sp>
      <p:sp>
        <p:nvSpPr>
          <p:cNvPr id="54" name="Shape 51"/>
          <p:cNvSpPr/>
          <p:nvPr/>
        </p:nvSpPr>
        <p:spPr>
          <a:xfrm>
            <a:off x="6124575" y="6630472"/>
            <a:ext cx="7867650" cy="519351"/>
          </a:xfrm>
          <a:prstGeom prst="rect">
            <a:avLst/>
          </a:prstGeom>
          <a:solidFill>
            <a:srgbClr val="000000">
              <a:alpha val="4000"/>
            </a:srgbClr>
          </a:solidFill>
          <a:ln/>
        </p:spPr>
        <p:txBody>
          <a:bodyPr/>
          <a:lstStyle/>
          <a:p>
            <a:endParaRPr lang="en-US"/>
          </a:p>
        </p:txBody>
      </p:sp>
      <p:sp>
        <p:nvSpPr>
          <p:cNvPr id="55" name="Text 52"/>
          <p:cNvSpPr/>
          <p:nvPr/>
        </p:nvSpPr>
        <p:spPr>
          <a:xfrm>
            <a:off x="6304717" y="6746081"/>
            <a:ext cx="1209437" cy="288131"/>
          </a:xfrm>
          <a:prstGeom prst="rect">
            <a:avLst/>
          </a:prstGeom>
          <a:noFill/>
          <a:ln/>
        </p:spPr>
        <p:txBody>
          <a:bodyPr wrap="none" lIns="0" tIns="0" rIns="0" bIns="0" rtlCol="0" anchor="t"/>
          <a:lstStyle/>
          <a:p>
            <a:pPr marL="0" indent="0">
              <a:lnSpc>
                <a:spcPts val="2250"/>
              </a:lnSpc>
              <a:buNone/>
            </a:pPr>
            <a:r>
              <a:rPr lang="en-US" sz="1400" kern="0" spc="-28" dirty="0">
                <a:solidFill>
                  <a:srgbClr val="272525"/>
                </a:solidFill>
                <a:latin typeface="Inter" pitchFamily="34" charset="0"/>
                <a:ea typeface="Inter" pitchFamily="34" charset="-122"/>
                <a:cs typeface="Inter" pitchFamily="34" charset="-120"/>
              </a:rPr>
              <a:t>GEnI</a:t>
            </a:r>
            <a:endParaRPr lang="en-US" sz="1400" dirty="0"/>
          </a:p>
        </p:txBody>
      </p:sp>
      <p:sp>
        <p:nvSpPr>
          <p:cNvPr id="56" name="Text 53"/>
          <p:cNvSpPr/>
          <p:nvPr/>
        </p:nvSpPr>
        <p:spPr>
          <a:xfrm>
            <a:off x="7882057" y="6746081"/>
            <a:ext cx="1205627" cy="288131"/>
          </a:xfrm>
          <a:prstGeom prst="rect">
            <a:avLst/>
          </a:prstGeom>
          <a:noFill/>
          <a:ln/>
        </p:spPr>
        <p:txBody>
          <a:bodyPr wrap="none" lIns="0" tIns="0" rIns="0" bIns="0" rtlCol="0" anchor="t"/>
          <a:lstStyle/>
          <a:p>
            <a:pPr marL="0" indent="0">
              <a:lnSpc>
                <a:spcPts val="2250"/>
              </a:lnSpc>
              <a:buNone/>
            </a:pPr>
            <a:r>
              <a:rPr lang="en-US" sz="1400" kern="0" spc="-28" dirty="0">
                <a:solidFill>
                  <a:srgbClr val="272525"/>
                </a:solidFill>
                <a:latin typeface="Inter" pitchFamily="34" charset="0"/>
                <a:ea typeface="Inter" pitchFamily="34" charset="-122"/>
                <a:cs typeface="Inter" pitchFamily="34" charset="-120"/>
              </a:rPr>
              <a:t>1.08</a:t>
            </a:r>
            <a:endParaRPr lang="en-US" sz="1400" dirty="0"/>
          </a:p>
        </p:txBody>
      </p:sp>
      <p:sp>
        <p:nvSpPr>
          <p:cNvPr id="57" name="Text 54"/>
          <p:cNvSpPr/>
          <p:nvPr/>
        </p:nvSpPr>
        <p:spPr>
          <a:xfrm>
            <a:off x="9455587" y="6746081"/>
            <a:ext cx="1205627" cy="288131"/>
          </a:xfrm>
          <a:prstGeom prst="rect">
            <a:avLst/>
          </a:prstGeom>
          <a:noFill/>
          <a:ln/>
        </p:spPr>
        <p:txBody>
          <a:bodyPr wrap="none" lIns="0" tIns="0" rIns="0" bIns="0" rtlCol="0" anchor="t"/>
          <a:lstStyle/>
          <a:p>
            <a:pPr marL="0" indent="0">
              <a:lnSpc>
                <a:spcPts val="2250"/>
              </a:lnSpc>
              <a:buNone/>
            </a:pPr>
            <a:r>
              <a:rPr lang="en-US" sz="1400" kern="0" spc="-28" dirty="0">
                <a:solidFill>
                  <a:srgbClr val="272525"/>
                </a:solidFill>
                <a:latin typeface="Inter" pitchFamily="34" charset="0"/>
                <a:ea typeface="Inter" pitchFamily="34" charset="-122"/>
                <a:cs typeface="Inter" pitchFamily="34" charset="-120"/>
              </a:rPr>
              <a:t>1.68</a:t>
            </a:r>
            <a:endParaRPr lang="en-US" sz="1400" dirty="0"/>
          </a:p>
        </p:txBody>
      </p:sp>
      <p:sp>
        <p:nvSpPr>
          <p:cNvPr id="58" name="Text 55"/>
          <p:cNvSpPr/>
          <p:nvPr/>
        </p:nvSpPr>
        <p:spPr>
          <a:xfrm>
            <a:off x="11029117" y="6746081"/>
            <a:ext cx="1205627" cy="288131"/>
          </a:xfrm>
          <a:prstGeom prst="rect">
            <a:avLst/>
          </a:prstGeom>
          <a:noFill/>
          <a:ln/>
        </p:spPr>
        <p:txBody>
          <a:bodyPr wrap="none" lIns="0" tIns="0" rIns="0" bIns="0" rtlCol="0" anchor="t"/>
          <a:lstStyle/>
          <a:p>
            <a:pPr marL="0" indent="0">
              <a:lnSpc>
                <a:spcPts val="2250"/>
              </a:lnSpc>
              <a:buNone/>
            </a:pPr>
            <a:r>
              <a:rPr lang="en-US" sz="1400" kern="0" spc="-28" dirty="0">
                <a:solidFill>
                  <a:srgbClr val="272525"/>
                </a:solidFill>
                <a:latin typeface="Inter" pitchFamily="34" charset="0"/>
                <a:ea typeface="Inter" pitchFamily="34" charset="-122"/>
                <a:cs typeface="Inter" pitchFamily="34" charset="-120"/>
              </a:rPr>
              <a:t>0.60</a:t>
            </a:r>
            <a:endParaRPr lang="en-US" sz="1400" dirty="0"/>
          </a:p>
        </p:txBody>
      </p:sp>
      <p:sp>
        <p:nvSpPr>
          <p:cNvPr id="59" name="Text 56"/>
          <p:cNvSpPr/>
          <p:nvPr/>
        </p:nvSpPr>
        <p:spPr>
          <a:xfrm>
            <a:off x="12602647" y="6746081"/>
            <a:ext cx="1209437" cy="288131"/>
          </a:xfrm>
          <a:prstGeom prst="rect">
            <a:avLst/>
          </a:prstGeom>
          <a:noFill/>
          <a:ln/>
        </p:spPr>
        <p:txBody>
          <a:bodyPr wrap="none" lIns="0" tIns="0" rIns="0" bIns="0" rtlCol="0" anchor="t"/>
          <a:lstStyle/>
          <a:p>
            <a:pPr marL="0" indent="0">
              <a:lnSpc>
                <a:spcPts val="2250"/>
              </a:lnSpc>
              <a:buNone/>
            </a:pPr>
            <a:r>
              <a:rPr lang="en-US" sz="1400" kern="0" spc="-28" dirty="0">
                <a:solidFill>
                  <a:srgbClr val="272525"/>
                </a:solidFill>
                <a:latin typeface="Inter" pitchFamily="34" charset="0"/>
                <a:ea typeface="Inter" pitchFamily="34" charset="-122"/>
                <a:cs typeface="Inter" pitchFamily="34" charset="-120"/>
              </a:rPr>
              <a:t>0.64</a:t>
            </a:r>
            <a:endParaRPr lang="en-US" sz="1400" dirty="0"/>
          </a:p>
        </p:txBody>
      </p:sp>
      <p:sp>
        <p:nvSpPr>
          <p:cNvPr id="60" name="Shape 57"/>
          <p:cNvSpPr/>
          <p:nvPr/>
        </p:nvSpPr>
        <p:spPr>
          <a:xfrm>
            <a:off x="6124575" y="7149822"/>
            <a:ext cx="7867650" cy="519351"/>
          </a:xfrm>
          <a:prstGeom prst="rect">
            <a:avLst/>
          </a:prstGeom>
          <a:solidFill>
            <a:srgbClr val="FFFFFF">
              <a:alpha val="4000"/>
            </a:srgbClr>
          </a:solidFill>
          <a:ln/>
        </p:spPr>
        <p:txBody>
          <a:bodyPr/>
          <a:lstStyle/>
          <a:p>
            <a:endParaRPr lang="en-US"/>
          </a:p>
        </p:txBody>
      </p:sp>
      <p:sp>
        <p:nvSpPr>
          <p:cNvPr id="61" name="Text 58"/>
          <p:cNvSpPr/>
          <p:nvPr/>
        </p:nvSpPr>
        <p:spPr>
          <a:xfrm>
            <a:off x="6304717" y="7265432"/>
            <a:ext cx="1209437" cy="288131"/>
          </a:xfrm>
          <a:prstGeom prst="rect">
            <a:avLst/>
          </a:prstGeom>
          <a:noFill/>
          <a:ln/>
        </p:spPr>
        <p:txBody>
          <a:bodyPr wrap="none" lIns="0" tIns="0" rIns="0" bIns="0" rtlCol="0" anchor="t"/>
          <a:lstStyle/>
          <a:p>
            <a:pPr marL="0" indent="0">
              <a:lnSpc>
                <a:spcPts val="2250"/>
              </a:lnSpc>
              <a:buNone/>
            </a:pPr>
            <a:r>
              <a:rPr lang="en-US" sz="1400" kern="0" spc="-28" dirty="0">
                <a:solidFill>
                  <a:srgbClr val="272525"/>
                </a:solidFill>
                <a:latin typeface="Inter" pitchFamily="34" charset="0"/>
                <a:ea typeface="Inter" pitchFamily="34" charset="-122"/>
                <a:cs typeface="Inter" pitchFamily="34" charset="-120"/>
              </a:rPr>
              <a:t>GFI</a:t>
            </a:r>
            <a:endParaRPr lang="en-US" sz="1400" dirty="0"/>
          </a:p>
        </p:txBody>
      </p:sp>
      <p:sp>
        <p:nvSpPr>
          <p:cNvPr id="62" name="Text 59"/>
          <p:cNvSpPr/>
          <p:nvPr/>
        </p:nvSpPr>
        <p:spPr>
          <a:xfrm>
            <a:off x="7882057" y="7265432"/>
            <a:ext cx="1205627" cy="288131"/>
          </a:xfrm>
          <a:prstGeom prst="rect">
            <a:avLst/>
          </a:prstGeom>
          <a:noFill/>
          <a:ln/>
        </p:spPr>
        <p:txBody>
          <a:bodyPr wrap="none" lIns="0" tIns="0" rIns="0" bIns="0" rtlCol="0" anchor="t"/>
          <a:lstStyle/>
          <a:p>
            <a:pPr marL="0" indent="0">
              <a:lnSpc>
                <a:spcPts val="2250"/>
              </a:lnSpc>
              <a:buNone/>
            </a:pPr>
            <a:r>
              <a:rPr lang="en-US" sz="1400" kern="0" spc="-28" dirty="0">
                <a:solidFill>
                  <a:srgbClr val="272525"/>
                </a:solidFill>
                <a:latin typeface="Inter" pitchFamily="34" charset="0"/>
                <a:ea typeface="Inter" pitchFamily="34" charset="-122"/>
                <a:cs typeface="Inter" pitchFamily="34" charset="-120"/>
              </a:rPr>
              <a:t>2.69</a:t>
            </a:r>
            <a:endParaRPr lang="en-US" sz="1400" dirty="0"/>
          </a:p>
        </p:txBody>
      </p:sp>
      <p:sp>
        <p:nvSpPr>
          <p:cNvPr id="63" name="Text 60"/>
          <p:cNvSpPr/>
          <p:nvPr/>
        </p:nvSpPr>
        <p:spPr>
          <a:xfrm>
            <a:off x="9455587" y="7265432"/>
            <a:ext cx="1205627" cy="288131"/>
          </a:xfrm>
          <a:prstGeom prst="rect">
            <a:avLst/>
          </a:prstGeom>
          <a:noFill/>
          <a:ln/>
        </p:spPr>
        <p:txBody>
          <a:bodyPr wrap="none" lIns="0" tIns="0" rIns="0" bIns="0" rtlCol="0" anchor="t"/>
          <a:lstStyle/>
          <a:p>
            <a:pPr marL="0" indent="0">
              <a:lnSpc>
                <a:spcPts val="2250"/>
              </a:lnSpc>
              <a:buNone/>
            </a:pPr>
            <a:r>
              <a:rPr lang="en-US" sz="1400" kern="0" spc="-28" dirty="0">
                <a:solidFill>
                  <a:srgbClr val="272525"/>
                </a:solidFill>
                <a:latin typeface="Inter" pitchFamily="34" charset="0"/>
                <a:ea typeface="Inter" pitchFamily="34" charset="-122"/>
                <a:cs typeface="Inter" pitchFamily="34" charset="-120"/>
              </a:rPr>
              <a:t>1.79</a:t>
            </a:r>
            <a:endParaRPr lang="en-US" sz="1400" dirty="0"/>
          </a:p>
        </p:txBody>
      </p:sp>
      <p:sp>
        <p:nvSpPr>
          <p:cNvPr id="64" name="Text 61"/>
          <p:cNvSpPr/>
          <p:nvPr/>
        </p:nvSpPr>
        <p:spPr>
          <a:xfrm>
            <a:off x="11029117" y="7265432"/>
            <a:ext cx="1205627" cy="288131"/>
          </a:xfrm>
          <a:prstGeom prst="rect">
            <a:avLst/>
          </a:prstGeom>
          <a:noFill/>
          <a:ln/>
        </p:spPr>
        <p:txBody>
          <a:bodyPr wrap="none" lIns="0" tIns="0" rIns="0" bIns="0" rtlCol="0" anchor="t"/>
          <a:lstStyle/>
          <a:p>
            <a:pPr marL="0" indent="0">
              <a:lnSpc>
                <a:spcPts val="2250"/>
              </a:lnSpc>
              <a:buNone/>
            </a:pPr>
            <a:r>
              <a:rPr lang="en-US" sz="1400" kern="0" spc="-28" dirty="0">
                <a:solidFill>
                  <a:srgbClr val="272525"/>
                </a:solidFill>
                <a:latin typeface="Inter" pitchFamily="34" charset="0"/>
                <a:ea typeface="Inter" pitchFamily="34" charset="-122"/>
                <a:cs typeface="Inter" pitchFamily="34" charset="-120"/>
              </a:rPr>
              <a:t>2.19</a:t>
            </a:r>
            <a:endParaRPr lang="en-US" sz="1400" dirty="0"/>
          </a:p>
        </p:txBody>
      </p:sp>
      <p:sp>
        <p:nvSpPr>
          <p:cNvPr id="65" name="Text 62"/>
          <p:cNvSpPr/>
          <p:nvPr/>
        </p:nvSpPr>
        <p:spPr>
          <a:xfrm>
            <a:off x="12602647" y="7265432"/>
            <a:ext cx="1209437" cy="288131"/>
          </a:xfrm>
          <a:prstGeom prst="rect">
            <a:avLst/>
          </a:prstGeom>
          <a:noFill/>
          <a:ln/>
        </p:spPr>
        <p:txBody>
          <a:bodyPr wrap="none" lIns="0" tIns="0" rIns="0" bIns="0" rtlCol="0" anchor="t"/>
          <a:lstStyle/>
          <a:p>
            <a:pPr marL="0" indent="0">
              <a:lnSpc>
                <a:spcPts val="2250"/>
              </a:lnSpc>
              <a:buNone/>
            </a:pPr>
            <a:r>
              <a:rPr lang="en-US" sz="1400" kern="0" spc="-28" dirty="0">
                <a:solidFill>
                  <a:srgbClr val="272525"/>
                </a:solidFill>
                <a:latin typeface="Inter" pitchFamily="34" charset="0"/>
                <a:ea typeface="Inter" pitchFamily="34" charset="-122"/>
                <a:cs typeface="Inter" pitchFamily="34" charset="-120"/>
              </a:rPr>
              <a:t>1.15</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864037" y="956667"/>
            <a:ext cx="7415927" cy="1543050"/>
          </a:xfrm>
          <a:prstGeom prst="rect">
            <a:avLst/>
          </a:prstGeom>
          <a:noFill/>
          <a:ln/>
        </p:spPr>
        <p:txBody>
          <a:bodyPr wrap="square" lIns="0" tIns="0" rIns="0" bIns="0" rtlCol="0" anchor="t"/>
          <a:lstStyle/>
          <a:p>
            <a:pPr marL="0" indent="0">
              <a:lnSpc>
                <a:spcPts val="6050"/>
              </a:lnSpc>
              <a:buNone/>
            </a:pPr>
            <a:r>
              <a:rPr lang="en-US" sz="4850" b="1" kern="0" spc="-146" dirty="0">
                <a:solidFill>
                  <a:srgbClr val="000000"/>
                </a:solidFill>
                <a:latin typeface="Inter" pitchFamily="34" charset="0"/>
                <a:ea typeface="Inter" pitchFamily="34" charset="-122"/>
                <a:cs typeface="Inter" pitchFamily="34" charset="-120"/>
              </a:rPr>
              <a:t>Time Taken to Process One Subject</a:t>
            </a:r>
            <a:endParaRPr lang="en-US" sz="4850" dirty="0"/>
          </a:p>
        </p:txBody>
      </p:sp>
      <p:sp>
        <p:nvSpPr>
          <p:cNvPr id="4" name="Text 1"/>
          <p:cNvSpPr/>
          <p:nvPr/>
        </p:nvSpPr>
        <p:spPr>
          <a:xfrm>
            <a:off x="864037" y="2870002"/>
            <a:ext cx="7415927" cy="1975247"/>
          </a:xfrm>
          <a:prstGeom prst="rect">
            <a:avLst/>
          </a:prstGeom>
          <a:noFill/>
          <a:ln/>
        </p:spPr>
        <p:txBody>
          <a:bodyPr wrap="square" lIns="0" tIns="0" rIns="0" bIns="0" rtlCol="0" anchor="t"/>
          <a:lstStyle/>
          <a:p>
            <a:pPr marL="0" indent="0">
              <a:lnSpc>
                <a:spcPts val="3100"/>
              </a:lnSpc>
              <a:buNone/>
            </a:pPr>
            <a:r>
              <a:rPr lang="en-US" sz="1900" kern="0" spc="-39" dirty="0">
                <a:solidFill>
                  <a:srgbClr val="272525"/>
                </a:solidFill>
                <a:latin typeface="Inter" pitchFamily="34" charset="0"/>
                <a:ea typeface="Inter" pitchFamily="34" charset="-122"/>
                <a:cs typeface="Inter" pitchFamily="34" charset="-120"/>
              </a:rPr>
              <a:t>The time taken to process one subject using different silhouette feature representation techniques varied significantly. GEI and GEnI were relatively fast, while GFI took considerably longer. This difference in processing time is likely due to the complexity of the algorithms used in each technique.</a:t>
            </a:r>
            <a:endParaRPr lang="en-US" sz="1900" dirty="0"/>
          </a:p>
        </p:txBody>
      </p:sp>
      <p:sp>
        <p:nvSpPr>
          <p:cNvPr id="5" name="Shape 2"/>
          <p:cNvSpPr/>
          <p:nvPr/>
        </p:nvSpPr>
        <p:spPr>
          <a:xfrm>
            <a:off x="864037" y="5122902"/>
            <a:ext cx="7415927" cy="2150031"/>
          </a:xfrm>
          <a:prstGeom prst="roundRect">
            <a:avLst>
              <a:gd name="adj" fmla="val 4823"/>
            </a:avLst>
          </a:prstGeom>
          <a:noFill/>
          <a:ln w="15240">
            <a:solidFill>
              <a:srgbClr val="000000">
                <a:alpha val="8000"/>
              </a:srgbClr>
            </a:solidFill>
            <a:prstDash val="solid"/>
          </a:ln>
        </p:spPr>
        <p:txBody>
          <a:bodyPr/>
          <a:lstStyle/>
          <a:p>
            <a:endParaRPr lang="en-US"/>
          </a:p>
        </p:txBody>
      </p:sp>
      <p:sp>
        <p:nvSpPr>
          <p:cNvPr id="6" name="Shape 3"/>
          <p:cNvSpPr/>
          <p:nvPr/>
        </p:nvSpPr>
        <p:spPr>
          <a:xfrm>
            <a:off x="879277" y="5138142"/>
            <a:ext cx="7385447" cy="706517"/>
          </a:xfrm>
          <a:prstGeom prst="rect">
            <a:avLst/>
          </a:prstGeom>
          <a:solidFill>
            <a:srgbClr val="FFFFFF">
              <a:alpha val="4000"/>
            </a:srgbClr>
          </a:solidFill>
          <a:ln/>
        </p:spPr>
        <p:txBody>
          <a:bodyPr/>
          <a:lstStyle/>
          <a:p>
            <a:endParaRPr lang="en-US"/>
          </a:p>
        </p:txBody>
      </p:sp>
      <p:sp>
        <p:nvSpPr>
          <p:cNvPr id="7" name="Text 4"/>
          <p:cNvSpPr/>
          <p:nvPr/>
        </p:nvSpPr>
        <p:spPr>
          <a:xfrm>
            <a:off x="1126093" y="5293876"/>
            <a:ext cx="3195280" cy="395049"/>
          </a:xfrm>
          <a:prstGeom prst="rect">
            <a:avLst/>
          </a:prstGeom>
          <a:noFill/>
          <a:ln/>
        </p:spPr>
        <p:txBody>
          <a:bodyPr wrap="none" lIns="0" tIns="0" rIns="0" bIns="0" rtlCol="0" anchor="t"/>
          <a:lstStyle/>
          <a:p>
            <a:pPr marL="0" indent="0">
              <a:lnSpc>
                <a:spcPts val="3100"/>
              </a:lnSpc>
              <a:buNone/>
            </a:pPr>
            <a:r>
              <a:rPr lang="en-US" sz="1900" kern="0" spc="-39" dirty="0">
                <a:solidFill>
                  <a:srgbClr val="272525"/>
                </a:solidFill>
                <a:latin typeface="Inter" pitchFamily="34" charset="0"/>
                <a:ea typeface="Inter" pitchFamily="34" charset="-122"/>
                <a:cs typeface="Inter" pitchFamily="34" charset="-120"/>
              </a:rPr>
              <a:t>GEI</a:t>
            </a:r>
            <a:endParaRPr lang="en-US" sz="1900" dirty="0"/>
          </a:p>
        </p:txBody>
      </p:sp>
      <p:sp>
        <p:nvSpPr>
          <p:cNvPr id="8" name="Text 5"/>
          <p:cNvSpPr/>
          <p:nvPr/>
        </p:nvSpPr>
        <p:spPr>
          <a:xfrm>
            <a:off x="4822627" y="5293876"/>
            <a:ext cx="3195280" cy="395049"/>
          </a:xfrm>
          <a:prstGeom prst="rect">
            <a:avLst/>
          </a:prstGeom>
          <a:noFill/>
          <a:ln/>
        </p:spPr>
        <p:txBody>
          <a:bodyPr wrap="none" lIns="0" tIns="0" rIns="0" bIns="0" rtlCol="0" anchor="t"/>
          <a:lstStyle/>
          <a:p>
            <a:pPr marL="0" indent="0">
              <a:lnSpc>
                <a:spcPts val="3100"/>
              </a:lnSpc>
              <a:buNone/>
            </a:pPr>
            <a:r>
              <a:rPr lang="en-US" sz="1900" kern="0" spc="-39" dirty="0">
                <a:solidFill>
                  <a:srgbClr val="272525"/>
                </a:solidFill>
                <a:latin typeface="Inter" pitchFamily="34" charset="0"/>
                <a:ea typeface="Inter" pitchFamily="34" charset="-122"/>
                <a:cs typeface="Inter" pitchFamily="34" charset="-120"/>
              </a:rPr>
              <a:t>10.62 seconds</a:t>
            </a:r>
            <a:endParaRPr lang="en-US" sz="1900" dirty="0"/>
          </a:p>
        </p:txBody>
      </p:sp>
      <p:sp>
        <p:nvSpPr>
          <p:cNvPr id="9" name="Shape 6"/>
          <p:cNvSpPr/>
          <p:nvPr/>
        </p:nvSpPr>
        <p:spPr>
          <a:xfrm>
            <a:off x="879277" y="5844659"/>
            <a:ext cx="7385447" cy="706517"/>
          </a:xfrm>
          <a:prstGeom prst="rect">
            <a:avLst/>
          </a:prstGeom>
          <a:solidFill>
            <a:srgbClr val="000000">
              <a:alpha val="4000"/>
            </a:srgbClr>
          </a:solidFill>
          <a:ln/>
        </p:spPr>
        <p:txBody>
          <a:bodyPr/>
          <a:lstStyle/>
          <a:p>
            <a:endParaRPr lang="en-US"/>
          </a:p>
        </p:txBody>
      </p:sp>
      <p:sp>
        <p:nvSpPr>
          <p:cNvPr id="10" name="Text 7"/>
          <p:cNvSpPr/>
          <p:nvPr/>
        </p:nvSpPr>
        <p:spPr>
          <a:xfrm>
            <a:off x="1126093" y="6000393"/>
            <a:ext cx="3195280" cy="395049"/>
          </a:xfrm>
          <a:prstGeom prst="rect">
            <a:avLst/>
          </a:prstGeom>
          <a:noFill/>
          <a:ln/>
        </p:spPr>
        <p:txBody>
          <a:bodyPr wrap="none" lIns="0" tIns="0" rIns="0" bIns="0" rtlCol="0" anchor="t"/>
          <a:lstStyle/>
          <a:p>
            <a:pPr marL="0" indent="0">
              <a:lnSpc>
                <a:spcPts val="3100"/>
              </a:lnSpc>
              <a:buNone/>
            </a:pPr>
            <a:r>
              <a:rPr lang="en-US" sz="1900" kern="0" spc="-39" dirty="0">
                <a:solidFill>
                  <a:srgbClr val="272525"/>
                </a:solidFill>
                <a:latin typeface="Inter" pitchFamily="34" charset="0"/>
                <a:ea typeface="Inter" pitchFamily="34" charset="-122"/>
                <a:cs typeface="Inter" pitchFamily="34" charset="-120"/>
              </a:rPr>
              <a:t>GEnI</a:t>
            </a:r>
            <a:endParaRPr lang="en-US" sz="1900" dirty="0"/>
          </a:p>
        </p:txBody>
      </p:sp>
      <p:sp>
        <p:nvSpPr>
          <p:cNvPr id="11" name="Text 8"/>
          <p:cNvSpPr/>
          <p:nvPr/>
        </p:nvSpPr>
        <p:spPr>
          <a:xfrm>
            <a:off x="4822627" y="6000393"/>
            <a:ext cx="3195280" cy="395049"/>
          </a:xfrm>
          <a:prstGeom prst="rect">
            <a:avLst/>
          </a:prstGeom>
          <a:noFill/>
          <a:ln/>
        </p:spPr>
        <p:txBody>
          <a:bodyPr wrap="none" lIns="0" tIns="0" rIns="0" bIns="0" rtlCol="0" anchor="t"/>
          <a:lstStyle/>
          <a:p>
            <a:pPr marL="0" indent="0">
              <a:lnSpc>
                <a:spcPts val="3100"/>
              </a:lnSpc>
              <a:buNone/>
            </a:pPr>
            <a:r>
              <a:rPr lang="en-US" sz="1900" kern="0" spc="-39" dirty="0">
                <a:solidFill>
                  <a:srgbClr val="272525"/>
                </a:solidFill>
                <a:latin typeface="Inter" pitchFamily="34" charset="0"/>
                <a:ea typeface="Inter" pitchFamily="34" charset="-122"/>
                <a:cs typeface="Inter" pitchFamily="34" charset="-120"/>
              </a:rPr>
              <a:t>10.11 seconds</a:t>
            </a:r>
            <a:endParaRPr lang="en-US" sz="1900" dirty="0"/>
          </a:p>
        </p:txBody>
      </p:sp>
      <p:sp>
        <p:nvSpPr>
          <p:cNvPr id="12" name="Shape 9"/>
          <p:cNvSpPr/>
          <p:nvPr/>
        </p:nvSpPr>
        <p:spPr>
          <a:xfrm>
            <a:off x="879277" y="6551176"/>
            <a:ext cx="7385447" cy="706517"/>
          </a:xfrm>
          <a:prstGeom prst="rect">
            <a:avLst/>
          </a:prstGeom>
          <a:solidFill>
            <a:srgbClr val="FFFFFF">
              <a:alpha val="4000"/>
            </a:srgbClr>
          </a:solidFill>
          <a:ln/>
        </p:spPr>
        <p:txBody>
          <a:bodyPr/>
          <a:lstStyle/>
          <a:p>
            <a:endParaRPr lang="en-US"/>
          </a:p>
        </p:txBody>
      </p:sp>
      <p:sp>
        <p:nvSpPr>
          <p:cNvPr id="13" name="Text 10"/>
          <p:cNvSpPr/>
          <p:nvPr/>
        </p:nvSpPr>
        <p:spPr>
          <a:xfrm>
            <a:off x="1126093" y="6706910"/>
            <a:ext cx="3195280" cy="395049"/>
          </a:xfrm>
          <a:prstGeom prst="rect">
            <a:avLst/>
          </a:prstGeom>
          <a:noFill/>
          <a:ln/>
        </p:spPr>
        <p:txBody>
          <a:bodyPr wrap="none" lIns="0" tIns="0" rIns="0" bIns="0" rtlCol="0" anchor="t"/>
          <a:lstStyle/>
          <a:p>
            <a:pPr marL="0" indent="0">
              <a:lnSpc>
                <a:spcPts val="3100"/>
              </a:lnSpc>
              <a:buNone/>
            </a:pPr>
            <a:r>
              <a:rPr lang="en-US" sz="1900" kern="0" spc="-39" dirty="0">
                <a:solidFill>
                  <a:srgbClr val="272525"/>
                </a:solidFill>
                <a:latin typeface="Inter" pitchFamily="34" charset="0"/>
                <a:ea typeface="Inter" pitchFamily="34" charset="-122"/>
                <a:cs typeface="Inter" pitchFamily="34" charset="-120"/>
              </a:rPr>
              <a:t>GFI</a:t>
            </a:r>
            <a:endParaRPr lang="en-US" sz="1900" dirty="0"/>
          </a:p>
        </p:txBody>
      </p:sp>
      <p:sp>
        <p:nvSpPr>
          <p:cNvPr id="14" name="Text 11"/>
          <p:cNvSpPr/>
          <p:nvPr/>
        </p:nvSpPr>
        <p:spPr>
          <a:xfrm>
            <a:off x="4822627" y="6706910"/>
            <a:ext cx="3195280" cy="395049"/>
          </a:xfrm>
          <a:prstGeom prst="rect">
            <a:avLst/>
          </a:prstGeom>
          <a:noFill/>
          <a:ln/>
        </p:spPr>
        <p:txBody>
          <a:bodyPr wrap="none" lIns="0" tIns="0" rIns="0" bIns="0" rtlCol="0" anchor="t"/>
          <a:lstStyle/>
          <a:p>
            <a:pPr marL="0" indent="0">
              <a:lnSpc>
                <a:spcPts val="3100"/>
              </a:lnSpc>
              <a:buNone/>
            </a:pPr>
            <a:r>
              <a:rPr lang="en-US" sz="1900" kern="0" spc="-39" dirty="0">
                <a:solidFill>
                  <a:srgbClr val="272525"/>
                </a:solidFill>
                <a:latin typeface="Inter" pitchFamily="34" charset="0"/>
                <a:ea typeface="Inter" pitchFamily="34" charset="-122"/>
                <a:cs typeface="Inter" pitchFamily="34" charset="-120"/>
              </a:rPr>
              <a:t>139.65 seconds</a:t>
            </a:r>
            <a:endParaRPr lang="en-US" sz="1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350437" y="1766173"/>
            <a:ext cx="6172200" cy="771525"/>
          </a:xfrm>
          <a:prstGeom prst="rect">
            <a:avLst/>
          </a:prstGeom>
          <a:noFill/>
          <a:ln/>
        </p:spPr>
        <p:txBody>
          <a:bodyPr wrap="none" lIns="0" tIns="0" rIns="0" bIns="0" rtlCol="0" anchor="t"/>
          <a:lstStyle/>
          <a:p>
            <a:pPr marL="0" indent="0">
              <a:lnSpc>
                <a:spcPts val="6050"/>
              </a:lnSpc>
              <a:buNone/>
            </a:pPr>
            <a:r>
              <a:rPr lang="en-US" sz="4850" b="1" kern="0" spc="-146" dirty="0">
                <a:solidFill>
                  <a:srgbClr val="000000"/>
                </a:solidFill>
                <a:latin typeface="Inter" pitchFamily="34" charset="0"/>
                <a:ea typeface="Inter" pitchFamily="34" charset="-122"/>
                <a:cs typeface="Inter" pitchFamily="34" charset="-120"/>
              </a:rPr>
              <a:t>Conclusion</a:t>
            </a:r>
            <a:endParaRPr lang="en-US" sz="4850" dirty="0"/>
          </a:p>
        </p:txBody>
      </p:sp>
      <p:sp>
        <p:nvSpPr>
          <p:cNvPr id="4" name="Text 1"/>
          <p:cNvSpPr/>
          <p:nvPr/>
        </p:nvSpPr>
        <p:spPr>
          <a:xfrm>
            <a:off x="6350437" y="2907982"/>
            <a:ext cx="7415927" cy="4190649"/>
          </a:xfrm>
          <a:prstGeom prst="rect">
            <a:avLst/>
          </a:prstGeom>
          <a:noFill/>
          <a:ln/>
        </p:spPr>
        <p:txBody>
          <a:bodyPr wrap="square" lIns="0" tIns="0" rIns="0" bIns="0" rtlCol="0" anchor="t"/>
          <a:lstStyle/>
          <a:p>
            <a:pPr marL="0" indent="0">
              <a:lnSpc>
                <a:spcPts val="3100"/>
              </a:lnSpc>
              <a:buNone/>
            </a:pPr>
            <a:r>
              <a:rPr lang="en-US" sz="1600" kern="0" spc="-39" dirty="0">
                <a:solidFill>
                  <a:srgbClr val="272525"/>
                </a:solidFill>
                <a:latin typeface="Inter" pitchFamily="34" charset="0"/>
                <a:ea typeface="Inter" pitchFamily="34" charset="-122"/>
                <a:cs typeface="Inter" pitchFamily="34" charset="-120"/>
              </a:rPr>
              <a:t>The study revealed that </a:t>
            </a:r>
            <a:r>
              <a:rPr lang="en-US" sz="1600" dirty="0"/>
              <a:t>Gait Entropy Image (GEnI) emerges as the most effective silhouette feature representation technique among the three methods analyzed. GEnI offers a balanced combination of high accuracy, moderate computational cost, and improved robustness compared to Gait Energy Image (GEI) and Gait Flow Image (GFI). While GEI matches GEnI in accuracy, it suffers from higher computational costs and lower robustness. GFI, despite its reported low computational cost in literature, shows lower accuracy and unexpectedly high processing times in the experiments. All three techniques share a high dependency on viewpoint, which could be a limitation in certain applications. Overall, GEnI's consistent performance across various metrics makes it the most promising option for gait analysis tasks.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743</TotalTime>
  <Words>1661</Words>
  <Application>Microsoft Office PowerPoint</Application>
  <PresentationFormat>Custom</PresentationFormat>
  <Paragraphs>198</Paragraphs>
  <Slides>18</Slides>
  <Notes>18</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18</vt:i4>
      </vt:variant>
    </vt:vector>
  </HeadingPairs>
  <TitlesOfParts>
    <vt:vector size="27" baseType="lpstr">
      <vt:lpstr>Aptos</vt:lpstr>
      <vt:lpstr>Arial</vt:lpstr>
      <vt:lpstr>Arial Rounded MT Bold</vt:lpstr>
      <vt:lpstr>Inter</vt:lpstr>
      <vt:lpstr>Montserrat</vt:lpstr>
      <vt:lpstr>Roboto</vt:lpstr>
      <vt:lpstr>Saira</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AMARTEY, DILLION</cp:lastModifiedBy>
  <cp:revision>8</cp:revision>
  <dcterms:created xsi:type="dcterms:W3CDTF">2024-09-25T07:55:46Z</dcterms:created>
  <dcterms:modified xsi:type="dcterms:W3CDTF">2024-09-27T03:44:43Z</dcterms:modified>
</cp:coreProperties>
</file>